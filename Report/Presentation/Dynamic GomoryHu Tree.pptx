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83" r:id="rId4"/>
    <p:sldId id="284" r:id="rId5"/>
    <p:sldId id="285" r:id="rId6"/>
    <p:sldId id="286" r:id="rId7"/>
    <p:sldId id="258" r:id="rId8"/>
    <p:sldId id="287" r:id="rId9"/>
    <p:sldId id="288" r:id="rId10"/>
    <p:sldId id="291" r:id="rId11"/>
    <p:sldId id="310" r:id="rId12"/>
    <p:sldId id="292" r:id="rId13"/>
    <p:sldId id="293" r:id="rId14"/>
    <p:sldId id="294" r:id="rId15"/>
    <p:sldId id="295" r:id="rId16"/>
    <p:sldId id="296" r:id="rId17"/>
    <p:sldId id="297" r:id="rId18"/>
    <p:sldId id="311" r:id="rId19"/>
    <p:sldId id="300" r:id="rId20"/>
    <p:sldId id="299" r:id="rId21"/>
    <p:sldId id="301" r:id="rId22"/>
    <p:sldId id="302" r:id="rId23"/>
    <p:sldId id="305" r:id="rId24"/>
    <p:sldId id="303" r:id="rId25"/>
    <p:sldId id="306" r:id="rId26"/>
    <p:sldId id="307" r:id="rId27"/>
    <p:sldId id="308" r:id="rId28"/>
    <p:sldId id="309" r:id="rId29"/>
    <p:sldId id="312" r:id="rId30"/>
    <p:sldId id="313" r:id="rId31"/>
    <p:sldId id="282" r:id="rId32"/>
    <p:sldId id="27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20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029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753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534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44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307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10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664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25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88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534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456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2499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182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15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481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5116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933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73569D5-5B0F-4DCE-ACEA-A795552B71CB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8814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epubs.siam.org/doi/10.1137/0109047" TargetMode="External"/><Relationship Id="rId2" Type="http://schemas.openxmlformats.org/officeDocument/2006/relationships/hyperlink" Target="https://www.cs.yale.edu/homes/lans/readings/routing/ford-max_flow-1956.pdf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cispace.com/pdf/algorithms-for-graph-connectivity-and-cut-problems-5ft4a4eiae.pdf" TargetMode="External"/><Relationship Id="rId5" Type="http://schemas.openxmlformats.org/officeDocument/2006/relationships/hyperlink" Target="https://arxiv.org/abs/1310.0178" TargetMode="External"/><Relationship Id="rId4" Type="http://schemas.openxmlformats.org/officeDocument/2006/relationships/hyperlink" Target="https://epubs.siam.org/doi/10.1137/0219009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66C98-DD00-AC32-BE18-5FF14CBCF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2857" y="1066801"/>
            <a:ext cx="8926285" cy="3329581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 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Gomory-Hu Tree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ECF183-A141-9BC3-82ED-D7845D935BAB}"/>
              </a:ext>
            </a:extLst>
          </p:cNvPr>
          <p:cNvSpPr txBox="1"/>
          <p:nvPr/>
        </p:nvSpPr>
        <p:spPr>
          <a:xfrm>
            <a:off x="457202" y="5437256"/>
            <a:ext cx="94379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FFFF00"/>
                </a:solidFill>
              </a:rPr>
              <a:t>Soham Chakraborty</a:t>
            </a:r>
          </a:p>
          <a:p>
            <a:pPr algn="just"/>
            <a:r>
              <a:rPr lang="en-IN" sz="2000" b="1" dirty="0">
                <a:solidFill>
                  <a:srgbClr val="FFFF00"/>
                </a:solidFill>
              </a:rPr>
              <a:t>22CS02002</a:t>
            </a:r>
          </a:p>
          <a:p>
            <a:pPr algn="just"/>
            <a:r>
              <a:rPr lang="en-IN" sz="2000" b="1" dirty="0">
                <a:solidFill>
                  <a:srgbClr val="FFFF00"/>
                </a:solidFill>
              </a:rPr>
              <a:t>Supervisor: Dr. Joy Chandra Mukherjee</a:t>
            </a:r>
          </a:p>
        </p:txBody>
      </p:sp>
    </p:spTree>
    <p:extLst>
      <p:ext uri="{BB962C8B-B14F-4D97-AF65-F5344CB8AC3E}">
        <p14:creationId xmlns:p14="http://schemas.microsoft.com/office/powerpoint/2010/main" val="3807654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80E65-38E1-1D41-7A5F-96AA9EB21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6097" y="97972"/>
            <a:ext cx="882565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of Contents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D9A8F9-CB81-F53A-233E-BE6B3DDE209E}"/>
              </a:ext>
            </a:extLst>
          </p:cNvPr>
          <p:cNvSpPr txBox="1"/>
          <p:nvPr/>
        </p:nvSpPr>
        <p:spPr>
          <a:xfrm>
            <a:off x="1746898" y="1023258"/>
            <a:ext cx="7619998" cy="5125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200000"/>
              </a:lnSpc>
              <a:buAutoNum type="arabicPeriod"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Flow</a:t>
            </a:r>
          </a:p>
          <a:p>
            <a:pPr marL="514350" indent="-514350" algn="just">
              <a:lnSpc>
                <a:spcPct val="200000"/>
              </a:lnSpc>
              <a:buAutoNum type="arabicPeriod"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Multi-Terminal Network Flow</a:t>
            </a:r>
          </a:p>
          <a:p>
            <a:pPr marL="514350" indent="-514350" algn="just">
              <a:lnSpc>
                <a:spcPct val="200000"/>
              </a:lnSpc>
              <a:buAutoNum type="arabicPeriod"/>
            </a:pPr>
            <a:r>
              <a:rPr lang="en-IN" sz="2800" b="1" dirty="0"/>
              <a:t>Gomory-Hu Tree</a:t>
            </a:r>
          </a:p>
          <a:p>
            <a:pPr marL="514350" indent="-514350" algn="just">
              <a:lnSpc>
                <a:spcPct val="200000"/>
              </a:lnSpc>
              <a:buAutoNum type="arabicPeriod"/>
            </a:pPr>
            <a:r>
              <a:rPr lang="en-IN" sz="2800" b="1" dirty="0"/>
              <a:t>Dynamic Gomory-Hu Tree</a:t>
            </a:r>
          </a:p>
          <a:p>
            <a:pPr marL="514350" indent="-514350" algn="just">
              <a:lnSpc>
                <a:spcPct val="200000"/>
              </a:lnSpc>
              <a:buAutoNum type="arabicPeriod"/>
            </a:pPr>
            <a:r>
              <a:rPr lang="en-IN" sz="2800" b="1" dirty="0"/>
              <a:t>Applications</a:t>
            </a:r>
          </a:p>
          <a:p>
            <a:pPr marL="514350" indent="-514350" algn="just">
              <a:lnSpc>
                <a:spcPct val="200000"/>
              </a:lnSpc>
              <a:buAutoNum type="arabicPeriod"/>
            </a:pPr>
            <a:r>
              <a:rPr lang="en-IN" sz="2800" b="1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73535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56C69-B1D7-E028-AA48-95C469FB4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5103-969E-53FF-3E27-56734DBF6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529" y="154319"/>
            <a:ext cx="882565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Flow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61C03E-3F41-C70B-AEFE-4FF2D9E657E2}"/>
              </a:ext>
            </a:extLst>
          </p:cNvPr>
          <p:cNvSpPr txBox="1"/>
          <p:nvPr/>
        </p:nvSpPr>
        <p:spPr>
          <a:xfrm>
            <a:off x="914402" y="1228477"/>
            <a:ext cx="943791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Flow - </a:t>
            </a:r>
            <a:r>
              <a:rPr lang="en-US" sz="2500" dirty="0"/>
              <a:t>A </a:t>
            </a:r>
            <a:r>
              <a:rPr lang="en-US" sz="2500" i="1" dirty="0"/>
              <a:t>flow</a:t>
            </a:r>
            <a:r>
              <a:rPr lang="en-US" sz="2500" dirty="0"/>
              <a:t> in a network is a collection of 	</a:t>
            </a:r>
            <a:r>
              <a:rPr lang="en-US" sz="25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path flows</a:t>
            </a:r>
            <a:r>
              <a:rPr lang="en-US" sz="2500" dirty="0"/>
              <a:t> between 2 fixed endpoints which has 	the property that the “sum of the numbers of all	 path 	flows that contain any edge is no greater than 	the 	capacity of that edge”.</a:t>
            </a:r>
          </a:p>
          <a:p>
            <a:pPr algn="just"/>
            <a:r>
              <a:rPr lang="en-US" sz="2500" b="1" dirty="0"/>
              <a:t>	</a:t>
            </a:r>
            <a:endParaRPr lang="en-IN" sz="25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F4786-D55D-56AB-F653-43987425342E}"/>
              </a:ext>
            </a:extLst>
          </p:cNvPr>
          <p:cNvSpPr txBox="1"/>
          <p:nvPr/>
        </p:nvSpPr>
        <p:spPr>
          <a:xfrm>
            <a:off x="914400" y="4709479"/>
            <a:ext cx="956854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 Flow </a:t>
            </a:r>
            <a:r>
              <a:rPr lang="en-US" sz="2500" dirty="0"/>
              <a:t>is the maximum possible </a:t>
            </a:r>
            <a:r>
              <a:rPr lang="en-US" sz="25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 of flow </a:t>
            </a:r>
            <a:r>
              <a:rPr lang="en-US" sz="2500" dirty="0"/>
              <a:t>in a 	network over all possible flow values between 2 fixed 	endpoints.</a:t>
            </a:r>
            <a:endParaRPr lang="en-IN" sz="2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6D302-39A3-3A47-CD87-1F5B45C169F6}"/>
              </a:ext>
            </a:extLst>
          </p:cNvPr>
          <p:cNvSpPr txBox="1"/>
          <p:nvPr/>
        </p:nvSpPr>
        <p:spPr>
          <a:xfrm>
            <a:off x="914401" y="3489945"/>
            <a:ext cx="956854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 of flow </a:t>
            </a:r>
            <a:r>
              <a:rPr lang="en-US" sz="2500" dirty="0"/>
              <a:t>is the sum of the numbers of all the 	</a:t>
            </a:r>
            <a:r>
              <a:rPr lang="en-US" sz="2500" i="1" dirty="0"/>
              <a:t>path flows</a:t>
            </a:r>
            <a:r>
              <a:rPr lang="en-US" sz="2500" dirty="0"/>
              <a:t> 	which compose it. </a:t>
            </a:r>
            <a:endParaRPr lang="en-IN" sz="2500" b="1" dirty="0"/>
          </a:p>
        </p:txBody>
      </p:sp>
    </p:spTree>
    <p:extLst>
      <p:ext uri="{BB962C8B-B14F-4D97-AF65-F5344CB8AC3E}">
        <p14:creationId xmlns:p14="http://schemas.microsoft.com/office/powerpoint/2010/main" val="259654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1F377-AFA0-857F-8FCF-0A100D450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C83C-2BB1-962A-AADB-9B4877267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529" y="154319"/>
            <a:ext cx="882565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Multi-Terminal Network Flow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11A981-7FDE-8795-A550-628303802C64}"/>
              </a:ext>
            </a:extLst>
          </p:cNvPr>
          <p:cNvSpPr txBox="1"/>
          <p:nvPr/>
        </p:nvSpPr>
        <p:spPr>
          <a:xfrm>
            <a:off x="1045029" y="1271455"/>
            <a:ext cx="943791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Multi-Terminal Network Flow </a:t>
            </a:r>
            <a:r>
              <a:rPr lang="en-US" sz="2500" dirty="0"/>
              <a:t>refers to the computation of	flow values between all pairs of nodes in a network.</a:t>
            </a:r>
          </a:p>
          <a:p>
            <a:pPr algn="just"/>
            <a:r>
              <a:rPr lang="en-US" sz="2500" b="1" dirty="0"/>
              <a:t>	</a:t>
            </a:r>
            <a:endParaRPr lang="en-IN" sz="25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11C607-5898-2741-5BD0-0981B91257D5}"/>
              </a:ext>
            </a:extLst>
          </p:cNvPr>
          <p:cNvSpPr txBox="1"/>
          <p:nvPr/>
        </p:nvSpPr>
        <p:spPr>
          <a:xfrm>
            <a:off x="1045029" y="2724925"/>
            <a:ext cx="957942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Brute Force Solution:-</a:t>
            </a:r>
          </a:p>
          <a:p>
            <a:pPr lvl="1" algn="just"/>
            <a:r>
              <a:rPr lang="en-US" sz="2500" dirty="0"/>
              <a:t>Consider all pairs of nodes and then compute max flow between them, resulting in an overall Time complexity of – </a:t>
            </a:r>
          </a:p>
          <a:p>
            <a:pPr lvl="1" algn="ctr"/>
            <a:r>
              <a:rPr lang="en-US" sz="2500" baseline="30000" dirty="0"/>
              <a:t>n</a:t>
            </a:r>
            <a:r>
              <a:rPr lang="en-US" sz="2500" dirty="0"/>
              <a:t>C</a:t>
            </a:r>
            <a:r>
              <a:rPr lang="en-US" sz="2500" baseline="-25000" dirty="0"/>
              <a:t>2</a:t>
            </a:r>
            <a:r>
              <a:rPr lang="en-US" sz="2500" dirty="0"/>
              <a:t> * O(</a:t>
            </a:r>
            <a:r>
              <a:rPr lang="en-US" sz="2500" dirty="0" err="1"/>
              <a:t>max_flow</a:t>
            </a:r>
            <a:r>
              <a:rPr lang="en-US" sz="2500" dirty="0"/>
              <a:t>)</a:t>
            </a:r>
          </a:p>
          <a:p>
            <a:pPr lvl="1"/>
            <a:endParaRPr lang="en-US" sz="2500" dirty="0"/>
          </a:p>
          <a:p>
            <a:pPr lvl="1"/>
            <a:r>
              <a:rPr lang="en-US" sz="2500" dirty="0"/>
              <a:t>In other words, we have to do a total of </a:t>
            </a:r>
            <a:r>
              <a:rPr lang="en-US" sz="2500" baseline="30000" dirty="0"/>
              <a:t>n</a:t>
            </a:r>
            <a:r>
              <a:rPr lang="en-US" sz="2500" dirty="0"/>
              <a:t>C</a:t>
            </a:r>
            <a:r>
              <a:rPr lang="en-US" sz="2500" baseline="-25000" dirty="0"/>
              <a:t>2 </a:t>
            </a:r>
            <a:r>
              <a:rPr lang="en-US" sz="2500" dirty="0"/>
              <a:t>flow computations.</a:t>
            </a: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CCA5D0AD-01DC-7DA8-59C2-E91F2FA50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FFFBFD8-47C0-5A92-808C-1CD1B6EF0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125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0B43E-48E8-30C0-B847-AF6E8008F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B689F-3054-9E38-F61B-89D5E0E94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529" y="154319"/>
            <a:ext cx="882565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Gomory-Hu Cut Tree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F80F64-C10A-3E9C-5D17-B48DB1CFD625}"/>
              </a:ext>
            </a:extLst>
          </p:cNvPr>
          <p:cNvSpPr txBox="1"/>
          <p:nvPr/>
        </p:nvSpPr>
        <p:spPr>
          <a:xfrm>
            <a:off x="1045029" y="1271455"/>
            <a:ext cx="10101942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800"/>
              </a:spcBef>
            </a:pPr>
            <a:r>
              <a:rPr lang="en-US" sz="28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Gomory-Hu Tree </a:t>
            </a:r>
            <a:r>
              <a:rPr lang="en-US" sz="2450" dirty="0"/>
              <a:t>is a </a:t>
            </a:r>
            <a:r>
              <a:rPr lang="en-US" sz="245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tree </a:t>
            </a:r>
            <a:r>
              <a:rPr lang="en-US" sz="2450" dirty="0"/>
              <a:t>which solves the problem	of 	computation of </a:t>
            </a:r>
            <a:r>
              <a:rPr lang="en-US" sz="245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Multi-Terminal Network Flows </a:t>
            </a:r>
            <a:r>
              <a:rPr lang="en-US" sz="24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an		</a:t>
            </a:r>
            <a:r>
              <a:rPr lang="en-US" sz="245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undirected</a:t>
            </a:r>
            <a:r>
              <a:rPr lang="en-US" sz="24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graph having </a:t>
            </a:r>
            <a:r>
              <a:rPr lang="en-US" sz="245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capacity(</a:t>
            </a:r>
            <a:r>
              <a:rPr lang="en-US" sz="245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i,j</a:t>
            </a:r>
            <a:r>
              <a:rPr lang="en-US" sz="245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= capacity(</a:t>
            </a:r>
            <a:r>
              <a:rPr lang="en-US" sz="245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j,i</a:t>
            </a:r>
            <a:r>
              <a:rPr lang="en-US" sz="245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en-US" sz="24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		only (n-1) flow computations. </a:t>
            </a:r>
          </a:p>
          <a:p>
            <a:pPr algn="just">
              <a:spcBef>
                <a:spcPts val="1800"/>
              </a:spcBef>
            </a:pPr>
            <a:endParaRPr lang="en-US" sz="24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 algn="just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Complexity of Construction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(n-1) * O(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max_flow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457200" indent="-457200" algn="just">
              <a:spcBef>
                <a:spcPts val="360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Motivation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 exists only (n-1) numerically different flow values in a Graph.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800149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D3085-867A-286B-A413-23D6231B4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3EA6-086B-2A92-A98E-C207AA53E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529" y="154319"/>
            <a:ext cx="882565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Properties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9160C0-A275-3ADD-D326-CCF1FA249055}"/>
              </a:ext>
            </a:extLst>
          </p:cNvPr>
          <p:cNvSpPr txBox="1"/>
          <p:nvPr/>
        </p:nvSpPr>
        <p:spPr>
          <a:xfrm>
            <a:off x="1045028" y="1086398"/>
            <a:ext cx="10167257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800"/>
              </a:spcBef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 algn="just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500" dirty="0"/>
              <a:t>For any 2 vertices, the min-Cut separating those vertices in the tree is also a valid min-Cut in the corresponding graph. </a:t>
            </a:r>
            <a:endParaRPr lang="en-US" sz="2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just">
              <a:spcBef>
                <a:spcPts val="4200"/>
              </a:spcBef>
              <a:buFont typeface="Wingdings" panose="05000000000000000000" pitchFamily="2" charset="2"/>
              <a:buChar char="Ø"/>
            </a:pPr>
            <a:r>
              <a:rPr lang="en-US" sz="2500" dirty="0"/>
              <a:t> Flow between any 2 vertices in the graph is numerically equal   </a:t>
            </a:r>
            <a:br>
              <a:rPr lang="en-US" sz="2500" dirty="0"/>
            </a:br>
            <a:r>
              <a:rPr lang="en-US" sz="2500" dirty="0"/>
              <a:t> to the minimum edge capacity on the path between those 2 </a:t>
            </a:r>
            <a:br>
              <a:rPr lang="en-US" sz="2500" dirty="0"/>
            </a:br>
            <a:r>
              <a:rPr lang="en-US" sz="2500" dirty="0"/>
              <a:t> vertices in the corresponding Cut-Tree.</a:t>
            </a:r>
          </a:p>
          <a:p>
            <a:pPr marL="342900" indent="-342900" algn="just">
              <a:spcBef>
                <a:spcPts val="4200"/>
              </a:spcBef>
              <a:buFont typeface="Wingdings" panose="05000000000000000000" pitchFamily="2" charset="2"/>
              <a:buChar char="Ø"/>
            </a:pPr>
            <a:r>
              <a:rPr lang="en-US" sz="2500" dirty="0"/>
              <a:t> Mathematical Representation - f(</a:t>
            </a:r>
            <a:r>
              <a:rPr lang="en-US" sz="2500" dirty="0" err="1"/>
              <a:t>u,v</a:t>
            </a:r>
            <a:r>
              <a:rPr lang="en-US" sz="2500" dirty="0"/>
              <a:t>) = min</a:t>
            </a:r>
            <a:r>
              <a:rPr lang="en-US" sz="2500" baseline="-25000" dirty="0"/>
              <a:t>e </a:t>
            </a:r>
            <a:r>
              <a:rPr lang="az-Cyrl-AZ" sz="2500" baseline="-25000" dirty="0"/>
              <a:t></a:t>
            </a:r>
            <a:r>
              <a:rPr lang="en-US" sz="2500" dirty="0"/>
              <a:t> </a:t>
            </a:r>
            <a:r>
              <a:rPr lang="el-GR" sz="2500" baseline="-25000" dirty="0"/>
              <a:t>π</a:t>
            </a:r>
            <a:r>
              <a:rPr lang="en-US" sz="2500" baseline="-25000" dirty="0"/>
              <a:t>(</a:t>
            </a:r>
            <a:r>
              <a:rPr lang="en-US" sz="2500" baseline="-25000" dirty="0" err="1"/>
              <a:t>u,v</a:t>
            </a:r>
            <a:r>
              <a:rPr lang="en-US" sz="2500" baseline="-25000" dirty="0"/>
              <a:t>) </a:t>
            </a:r>
            <a:r>
              <a:rPr lang="en-US" sz="2500" dirty="0"/>
              <a:t>c(e)</a:t>
            </a:r>
          </a:p>
        </p:txBody>
      </p:sp>
    </p:spTree>
    <p:extLst>
      <p:ext uri="{BB962C8B-B14F-4D97-AF65-F5344CB8AC3E}">
        <p14:creationId xmlns:p14="http://schemas.microsoft.com/office/powerpoint/2010/main" val="2651258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80E65-38E1-1D41-7A5F-96AA9EB21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114" y="151971"/>
            <a:ext cx="900089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Construction of Gomory-Hu Tree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959257-7EFA-27BB-C327-72FDCE49255E}"/>
              </a:ext>
            </a:extLst>
          </p:cNvPr>
          <p:cNvSpPr txBox="1"/>
          <p:nvPr/>
        </p:nvSpPr>
        <p:spPr>
          <a:xfrm>
            <a:off x="1045029" y="1217026"/>
            <a:ext cx="1010194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800"/>
              </a:spcBef>
            </a:pP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following construction is as described by Gusfield in his paper, which is an easier implementation of Cut-Tree.</a:t>
            </a:r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61BA3-4808-C0A5-4EBF-8CB993248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" y="2492773"/>
            <a:ext cx="5998029" cy="3733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1A6EDF-434E-B24D-D4A6-D6890E8D0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69090"/>
            <a:ext cx="5921829" cy="433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709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9F1FF-280D-7A3A-EE6C-77DA61D9B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E267A-5979-2B29-1F93-456CA1140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771" y="151972"/>
            <a:ext cx="900089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Construction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E6E78E-E491-E76A-4340-1518AA4E5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199580"/>
              </p:ext>
            </p:extLst>
          </p:nvPr>
        </p:nvGraphicFramePr>
        <p:xfrm>
          <a:off x="837631" y="1077430"/>
          <a:ext cx="932803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673">
                  <a:extLst>
                    <a:ext uri="{9D8B030D-6E8A-4147-A177-3AD203B41FA5}">
                      <a16:colId xmlns:a16="http://schemas.microsoft.com/office/drawing/2014/main" val="995775553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872555965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608945767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673990100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2046207148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24920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Array\Node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07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8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fl</a:t>
                      </a:r>
                      <a:endParaRPr lang="en-IN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02303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FC4E5A0-90AC-7DEB-97A8-4C41F1280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096" y="2572687"/>
            <a:ext cx="6086475" cy="3733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F2C5DC-3D6D-F4D3-8484-315956C93F2D}"/>
              </a:ext>
            </a:extLst>
          </p:cNvPr>
          <p:cNvSpPr txBox="1"/>
          <p:nvPr/>
        </p:nvSpPr>
        <p:spPr>
          <a:xfrm>
            <a:off x="5982379" y="2572687"/>
            <a:ext cx="5316993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sz="2600" b="1" dirty="0">
                <a:solidFill>
                  <a:srgbClr val="00B0F0"/>
                </a:solidFill>
              </a:rPr>
              <a:t>Initialization</a:t>
            </a:r>
            <a:r>
              <a:rPr lang="en-US" sz="2600" dirty="0">
                <a:solidFill>
                  <a:srgbClr val="00B0F0"/>
                </a:solidFill>
              </a:rPr>
              <a:t>:</a:t>
            </a:r>
          </a:p>
          <a:p>
            <a:pPr algn="just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- Create a star graph.</a:t>
            </a:r>
          </a:p>
          <a:p>
            <a:pPr algn="just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- Set all p (parent) to 1.</a:t>
            </a:r>
          </a:p>
          <a:p>
            <a:pPr algn="just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-</a:t>
            </a:r>
            <a:r>
              <a:rPr lang="en-US" sz="2600" b="1" dirty="0">
                <a:solidFill>
                  <a:srgbClr val="FFFF00"/>
                </a:solidFill>
              </a:rPr>
              <a:t> fl </a:t>
            </a:r>
            <a:r>
              <a:rPr lang="en-US" sz="2600" dirty="0">
                <a:solidFill>
                  <a:srgbClr val="FFFF00"/>
                </a:solidFill>
              </a:rPr>
              <a:t>represents the edge weights from node to parent.</a:t>
            </a:r>
          </a:p>
          <a:p>
            <a:pPr algn="just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-</a:t>
            </a:r>
            <a:r>
              <a:rPr lang="en-US" sz="2600" b="1" dirty="0">
                <a:solidFill>
                  <a:srgbClr val="FFFF00"/>
                </a:solidFill>
              </a:rPr>
              <a:t> fl </a:t>
            </a:r>
            <a:r>
              <a:rPr lang="en-US" sz="2600" dirty="0">
                <a:solidFill>
                  <a:srgbClr val="FFFF00"/>
                </a:solidFill>
              </a:rPr>
              <a:t>is empty as no flow values have been computed yet.</a:t>
            </a:r>
          </a:p>
        </p:txBody>
      </p:sp>
    </p:spTree>
    <p:extLst>
      <p:ext uri="{BB962C8B-B14F-4D97-AF65-F5344CB8AC3E}">
        <p14:creationId xmlns:p14="http://schemas.microsoft.com/office/powerpoint/2010/main" val="2617818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43238-C8CA-EB21-57C2-49C832ED2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C016C-5CF6-9553-DD35-F92EF7F165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771" y="151972"/>
            <a:ext cx="900089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Construction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019529-3FED-849B-5735-AE2625578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188747"/>
              </p:ext>
            </p:extLst>
          </p:nvPr>
        </p:nvGraphicFramePr>
        <p:xfrm>
          <a:off x="837631" y="1077430"/>
          <a:ext cx="932803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673">
                  <a:extLst>
                    <a:ext uri="{9D8B030D-6E8A-4147-A177-3AD203B41FA5}">
                      <a16:colId xmlns:a16="http://schemas.microsoft.com/office/drawing/2014/main" val="995775553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872555965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608945767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673990100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2046207148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24920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Array\Node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07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8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fl</a:t>
                      </a:r>
                      <a:endParaRPr lang="en-IN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0230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1D73AF5-2F3D-9124-3010-48D06AC47523}"/>
              </a:ext>
            </a:extLst>
          </p:cNvPr>
          <p:cNvSpPr txBox="1"/>
          <p:nvPr/>
        </p:nvSpPr>
        <p:spPr>
          <a:xfrm>
            <a:off x="6096000" y="3195187"/>
            <a:ext cx="5316993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s = 2					   t = p[s] = 1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S = {2,3,4,5,6}				T = {1}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min-Cut = 18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Update p, fl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1E04A6-C002-DDD7-15D0-F2F70C452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561" y="2520921"/>
            <a:ext cx="6086475" cy="37338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9A1C943-AE27-7F2E-C04C-A5094184CBF0}"/>
              </a:ext>
            </a:extLst>
          </p:cNvPr>
          <p:cNvSpPr/>
          <p:nvPr/>
        </p:nvSpPr>
        <p:spPr>
          <a:xfrm>
            <a:off x="2636342" y="3954973"/>
            <a:ext cx="891416" cy="930399"/>
          </a:xfrm>
          <a:custGeom>
            <a:avLst/>
            <a:gdLst>
              <a:gd name="connsiteX0" fmla="*/ 150401 w 891416"/>
              <a:gd name="connsiteY0" fmla="*/ 72741 h 930399"/>
              <a:gd name="connsiteX1" fmla="*/ 803544 w 891416"/>
              <a:gd name="connsiteY1" fmla="*/ 116284 h 930399"/>
              <a:gd name="connsiteX2" fmla="*/ 803544 w 891416"/>
              <a:gd name="connsiteY2" fmla="*/ 856513 h 930399"/>
              <a:gd name="connsiteX3" fmla="*/ 52429 w 891416"/>
              <a:gd name="connsiteY3" fmla="*/ 812970 h 930399"/>
              <a:gd name="connsiteX4" fmla="*/ 150401 w 891416"/>
              <a:gd name="connsiteY4" fmla="*/ 72741 h 93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1416" h="930399">
                <a:moveTo>
                  <a:pt x="150401" y="72741"/>
                </a:moveTo>
                <a:cubicBezTo>
                  <a:pt x="275587" y="-43373"/>
                  <a:pt x="694687" y="-14345"/>
                  <a:pt x="803544" y="116284"/>
                </a:cubicBezTo>
                <a:cubicBezTo>
                  <a:pt x="912401" y="246913"/>
                  <a:pt x="928730" y="740399"/>
                  <a:pt x="803544" y="856513"/>
                </a:cubicBezTo>
                <a:cubicBezTo>
                  <a:pt x="678358" y="972627"/>
                  <a:pt x="164915" y="947227"/>
                  <a:pt x="52429" y="812970"/>
                </a:cubicBezTo>
                <a:cubicBezTo>
                  <a:pt x="-60057" y="678713"/>
                  <a:pt x="25215" y="188855"/>
                  <a:pt x="150401" y="72741"/>
                </a:cubicBezTo>
                <a:close/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A5DCD-FE55-40BD-8B86-14783D5366CF}"/>
              </a:ext>
            </a:extLst>
          </p:cNvPr>
          <p:cNvSpPr/>
          <p:nvPr/>
        </p:nvSpPr>
        <p:spPr>
          <a:xfrm>
            <a:off x="2002639" y="3218543"/>
            <a:ext cx="2308300" cy="2358063"/>
          </a:xfrm>
          <a:custGeom>
            <a:avLst/>
            <a:gdLst>
              <a:gd name="connsiteX0" fmla="*/ 332 w 2308300"/>
              <a:gd name="connsiteY0" fmla="*/ 1222828 h 2358063"/>
              <a:gd name="connsiteX1" fmla="*/ 631704 w 2308300"/>
              <a:gd name="connsiteY1" fmla="*/ 79828 h 2358063"/>
              <a:gd name="connsiteX2" fmla="*/ 1883561 w 2308300"/>
              <a:gd name="connsiteY2" fmla="*/ 210457 h 2358063"/>
              <a:gd name="connsiteX3" fmla="*/ 2308104 w 2308300"/>
              <a:gd name="connsiteY3" fmla="*/ 1124857 h 2358063"/>
              <a:gd name="connsiteX4" fmla="*/ 1916218 w 2308300"/>
              <a:gd name="connsiteY4" fmla="*/ 2246086 h 2358063"/>
              <a:gd name="connsiteX5" fmla="*/ 566390 w 2308300"/>
              <a:gd name="connsiteY5" fmla="*/ 2202543 h 2358063"/>
              <a:gd name="connsiteX6" fmla="*/ 332 w 2308300"/>
              <a:gd name="connsiteY6" fmla="*/ 1222828 h 2358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300" h="2358063">
                <a:moveTo>
                  <a:pt x="332" y="1222828"/>
                </a:moveTo>
                <a:cubicBezTo>
                  <a:pt x="11218" y="869042"/>
                  <a:pt x="317833" y="248556"/>
                  <a:pt x="631704" y="79828"/>
                </a:cubicBezTo>
                <a:cubicBezTo>
                  <a:pt x="945575" y="-88900"/>
                  <a:pt x="1604161" y="36285"/>
                  <a:pt x="1883561" y="210457"/>
                </a:cubicBezTo>
                <a:cubicBezTo>
                  <a:pt x="2162961" y="384628"/>
                  <a:pt x="2302661" y="785586"/>
                  <a:pt x="2308104" y="1124857"/>
                </a:cubicBezTo>
                <a:cubicBezTo>
                  <a:pt x="2313547" y="1464128"/>
                  <a:pt x="2206504" y="2066472"/>
                  <a:pt x="1916218" y="2246086"/>
                </a:cubicBezTo>
                <a:cubicBezTo>
                  <a:pt x="1625932" y="2425700"/>
                  <a:pt x="885704" y="2373086"/>
                  <a:pt x="566390" y="2202543"/>
                </a:cubicBezTo>
                <a:cubicBezTo>
                  <a:pt x="247076" y="2032000"/>
                  <a:pt x="-10554" y="1576614"/>
                  <a:pt x="332" y="1222828"/>
                </a:cubicBezTo>
                <a:close/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963046E-7B2F-5343-E829-22789CD1FB34}"/>
              </a:ext>
            </a:extLst>
          </p:cNvPr>
          <p:cNvSpPr/>
          <p:nvPr/>
        </p:nvSpPr>
        <p:spPr>
          <a:xfrm>
            <a:off x="1076177" y="2400047"/>
            <a:ext cx="4153023" cy="3878200"/>
          </a:xfrm>
          <a:custGeom>
            <a:avLst/>
            <a:gdLst>
              <a:gd name="connsiteX0" fmla="*/ 632880 w 4153023"/>
              <a:gd name="connsiteY0" fmla="*/ 593524 h 3878200"/>
              <a:gd name="connsiteX1" fmla="*/ 1841194 w 4153023"/>
              <a:gd name="connsiteY1" fmla="*/ 5696 h 3878200"/>
              <a:gd name="connsiteX2" fmla="*/ 3985680 w 4153023"/>
              <a:gd name="connsiteY2" fmla="*/ 941867 h 3878200"/>
              <a:gd name="connsiteX3" fmla="*/ 3626452 w 4153023"/>
              <a:gd name="connsiteY3" fmla="*/ 3576210 h 3878200"/>
              <a:gd name="connsiteX4" fmla="*/ 567566 w 4153023"/>
              <a:gd name="connsiteY4" fmla="*/ 3587096 h 3878200"/>
              <a:gd name="connsiteX5" fmla="*/ 1509 w 4153023"/>
              <a:gd name="connsiteY5" fmla="*/ 1486153 h 3878200"/>
              <a:gd name="connsiteX6" fmla="*/ 632880 w 4153023"/>
              <a:gd name="connsiteY6" fmla="*/ 593524 h 387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53023" h="3878200">
                <a:moveTo>
                  <a:pt x="632880" y="593524"/>
                </a:moveTo>
                <a:cubicBezTo>
                  <a:pt x="939494" y="346781"/>
                  <a:pt x="1282394" y="-52361"/>
                  <a:pt x="1841194" y="5696"/>
                </a:cubicBezTo>
                <a:cubicBezTo>
                  <a:pt x="2399994" y="63753"/>
                  <a:pt x="3688137" y="346781"/>
                  <a:pt x="3985680" y="941867"/>
                </a:cubicBezTo>
                <a:cubicBezTo>
                  <a:pt x="4283223" y="1536953"/>
                  <a:pt x="4196138" y="3135339"/>
                  <a:pt x="3626452" y="3576210"/>
                </a:cubicBezTo>
                <a:cubicBezTo>
                  <a:pt x="3056766" y="4017081"/>
                  <a:pt x="1171723" y="3935439"/>
                  <a:pt x="567566" y="3587096"/>
                </a:cubicBezTo>
                <a:cubicBezTo>
                  <a:pt x="-36591" y="3238753"/>
                  <a:pt x="-2119" y="1985082"/>
                  <a:pt x="1509" y="1486153"/>
                </a:cubicBezTo>
                <a:cubicBezTo>
                  <a:pt x="5137" y="987224"/>
                  <a:pt x="326266" y="840267"/>
                  <a:pt x="632880" y="593524"/>
                </a:cubicBezTo>
                <a:close/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62E1048-2CB9-EC3C-4601-20BD71B4B3B9}"/>
              </a:ext>
            </a:extLst>
          </p:cNvPr>
          <p:cNvSpPr/>
          <p:nvPr/>
        </p:nvSpPr>
        <p:spPr>
          <a:xfrm rot="15061323">
            <a:off x="1613602" y="3772224"/>
            <a:ext cx="177851" cy="196886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701D23-6C5A-2EFE-4C94-CC7894EE180E}"/>
              </a:ext>
            </a:extLst>
          </p:cNvPr>
          <p:cNvSpPr/>
          <p:nvPr/>
        </p:nvSpPr>
        <p:spPr>
          <a:xfrm>
            <a:off x="1676400" y="3581400"/>
            <a:ext cx="1295400" cy="277504"/>
          </a:xfrm>
          <a:custGeom>
            <a:avLst/>
            <a:gdLst>
              <a:gd name="connsiteX0" fmla="*/ 1295400 w 1295400"/>
              <a:gd name="connsiteY0" fmla="*/ 0 h 277504"/>
              <a:gd name="connsiteX1" fmla="*/ 0 w 1295400"/>
              <a:gd name="connsiteY1" fmla="*/ 272143 h 277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95400" h="277504">
                <a:moveTo>
                  <a:pt x="1295400" y="0"/>
                </a:moveTo>
                <a:cubicBezTo>
                  <a:pt x="722993" y="154214"/>
                  <a:pt x="150586" y="308429"/>
                  <a:pt x="0" y="272143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DC83B37-E492-5417-7245-D264501E3ACE}"/>
              </a:ext>
            </a:extLst>
          </p:cNvPr>
          <p:cNvSpPr/>
          <p:nvPr/>
        </p:nvSpPr>
        <p:spPr>
          <a:xfrm>
            <a:off x="1654629" y="3391380"/>
            <a:ext cx="2405742" cy="701649"/>
          </a:xfrm>
          <a:custGeom>
            <a:avLst/>
            <a:gdLst>
              <a:gd name="connsiteX0" fmla="*/ 2405742 w 2405742"/>
              <a:gd name="connsiteY0" fmla="*/ 701649 h 701649"/>
              <a:gd name="connsiteX1" fmla="*/ 1621971 w 2405742"/>
              <a:gd name="connsiteY1" fmla="*/ 4963 h 701649"/>
              <a:gd name="connsiteX2" fmla="*/ 0 w 2405742"/>
              <a:gd name="connsiteY2" fmla="*/ 364191 h 701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05742" h="701649">
                <a:moveTo>
                  <a:pt x="2405742" y="701649"/>
                </a:moveTo>
                <a:cubicBezTo>
                  <a:pt x="2214335" y="381427"/>
                  <a:pt x="2022928" y="61206"/>
                  <a:pt x="1621971" y="4963"/>
                </a:cubicBezTo>
                <a:cubicBezTo>
                  <a:pt x="1221014" y="-51280"/>
                  <a:pt x="208643" y="389591"/>
                  <a:pt x="0" y="364191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A263947-3E40-3A97-69A9-85946795E674}"/>
              </a:ext>
            </a:extLst>
          </p:cNvPr>
          <p:cNvSpPr/>
          <p:nvPr/>
        </p:nvSpPr>
        <p:spPr>
          <a:xfrm rot="15193250">
            <a:off x="1522162" y="3691283"/>
            <a:ext cx="177851" cy="196886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5225A29-675E-4E1D-0C2D-3AB2B4394FBB}"/>
              </a:ext>
            </a:extLst>
          </p:cNvPr>
          <p:cNvSpPr/>
          <p:nvPr/>
        </p:nvSpPr>
        <p:spPr>
          <a:xfrm>
            <a:off x="1709057" y="4125686"/>
            <a:ext cx="1948543" cy="1091010"/>
          </a:xfrm>
          <a:custGeom>
            <a:avLst/>
            <a:gdLst>
              <a:gd name="connsiteX0" fmla="*/ 1948543 w 1948543"/>
              <a:gd name="connsiteY0" fmla="*/ 979714 h 1091010"/>
              <a:gd name="connsiteX1" fmla="*/ 947057 w 1948543"/>
              <a:gd name="connsiteY1" fmla="*/ 1001485 h 1091010"/>
              <a:gd name="connsiteX2" fmla="*/ 0 w 1948543"/>
              <a:gd name="connsiteY2" fmla="*/ 0 h 1091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8543" h="1091010">
                <a:moveTo>
                  <a:pt x="1948543" y="979714"/>
                </a:moveTo>
                <a:cubicBezTo>
                  <a:pt x="1610178" y="1072242"/>
                  <a:pt x="1271814" y="1164771"/>
                  <a:pt x="947057" y="1001485"/>
                </a:cubicBezTo>
                <a:cubicBezTo>
                  <a:pt x="622300" y="838199"/>
                  <a:pt x="130628" y="114300"/>
                  <a:pt x="0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6572B028-FF5A-ABE5-09FB-4A1419AC368E}"/>
              </a:ext>
            </a:extLst>
          </p:cNvPr>
          <p:cNvSpPr/>
          <p:nvPr/>
        </p:nvSpPr>
        <p:spPr>
          <a:xfrm rot="19834629">
            <a:off x="1606190" y="4014938"/>
            <a:ext cx="177851" cy="196886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1A2D86C-9358-87E1-6DEC-3D5153B62FB8}"/>
              </a:ext>
            </a:extLst>
          </p:cNvPr>
          <p:cNvSpPr/>
          <p:nvPr/>
        </p:nvSpPr>
        <p:spPr>
          <a:xfrm>
            <a:off x="1632857" y="4201886"/>
            <a:ext cx="598714" cy="1099457"/>
          </a:xfrm>
          <a:custGeom>
            <a:avLst/>
            <a:gdLst>
              <a:gd name="connsiteX0" fmla="*/ 598714 w 598714"/>
              <a:gd name="connsiteY0" fmla="*/ 1099457 h 1099457"/>
              <a:gd name="connsiteX1" fmla="*/ 0 w 598714"/>
              <a:gd name="connsiteY1" fmla="*/ 0 h 1099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98714" h="1099457">
                <a:moveTo>
                  <a:pt x="598714" y="1099457"/>
                </a:moveTo>
                <a:cubicBezTo>
                  <a:pt x="376464" y="655864"/>
                  <a:pt x="154214" y="212271"/>
                  <a:pt x="0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272515F3-6884-75B1-BC42-22F085BA6AA9}"/>
              </a:ext>
            </a:extLst>
          </p:cNvPr>
          <p:cNvSpPr/>
          <p:nvPr/>
        </p:nvSpPr>
        <p:spPr>
          <a:xfrm rot="19916816">
            <a:off x="1530195" y="4048327"/>
            <a:ext cx="177851" cy="196886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818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90623-5492-F82B-2BE8-7CE572107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D45AA-AAF2-CD11-8DD8-E13088661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771" y="151972"/>
            <a:ext cx="900089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Construction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25746A-F44E-FDAD-E82D-B833ED1CC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16327"/>
              </p:ext>
            </p:extLst>
          </p:nvPr>
        </p:nvGraphicFramePr>
        <p:xfrm>
          <a:off x="837631" y="1077430"/>
          <a:ext cx="932803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673">
                  <a:extLst>
                    <a:ext uri="{9D8B030D-6E8A-4147-A177-3AD203B41FA5}">
                      <a16:colId xmlns:a16="http://schemas.microsoft.com/office/drawing/2014/main" val="995775553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872555965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608945767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673990100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2046207148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24920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Array\Node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07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8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fl</a:t>
                      </a:r>
                      <a:endParaRPr lang="en-IN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0230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909AB5A-08CB-69CB-3EA5-551F7728FD0B}"/>
              </a:ext>
            </a:extLst>
          </p:cNvPr>
          <p:cNvSpPr txBox="1"/>
          <p:nvPr/>
        </p:nvSpPr>
        <p:spPr>
          <a:xfrm>
            <a:off x="6096000" y="3195187"/>
            <a:ext cx="5316993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s = 3					   t = p[s] = 2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S = {3,4,5}				T = {1,2,6}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min-Cut = 13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Update p, fl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8AC6F6-007A-A343-37B4-30707B8E5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05" y="2675130"/>
            <a:ext cx="6086475" cy="37338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2D3FCFD-F492-F536-7446-A4AD242F35FC}"/>
              </a:ext>
            </a:extLst>
          </p:cNvPr>
          <p:cNvSpPr/>
          <p:nvPr/>
        </p:nvSpPr>
        <p:spPr>
          <a:xfrm>
            <a:off x="2464344" y="2489442"/>
            <a:ext cx="2963186" cy="4105176"/>
          </a:xfrm>
          <a:custGeom>
            <a:avLst/>
            <a:gdLst>
              <a:gd name="connsiteX0" fmla="*/ 148227 w 2963186"/>
              <a:gd name="connsiteY0" fmla="*/ 798044 h 4105176"/>
              <a:gd name="connsiteX1" fmla="*/ 1802856 w 2963186"/>
              <a:gd name="connsiteY1" fmla="*/ 1679787 h 4105176"/>
              <a:gd name="connsiteX2" fmla="*/ 1421856 w 2963186"/>
              <a:gd name="connsiteY2" fmla="*/ 3497701 h 4105176"/>
              <a:gd name="connsiteX3" fmla="*/ 2020570 w 2963186"/>
              <a:gd name="connsiteY3" fmla="*/ 3987558 h 4105176"/>
              <a:gd name="connsiteX4" fmla="*/ 2913199 w 2963186"/>
              <a:gd name="connsiteY4" fmla="*/ 1505615 h 4105176"/>
              <a:gd name="connsiteX5" fmla="*/ 387713 w 2963186"/>
              <a:gd name="connsiteY5" fmla="*/ 14272 h 4105176"/>
              <a:gd name="connsiteX6" fmla="*/ 148227 w 2963186"/>
              <a:gd name="connsiteY6" fmla="*/ 798044 h 410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63186" h="4105176">
                <a:moveTo>
                  <a:pt x="148227" y="798044"/>
                </a:moveTo>
                <a:cubicBezTo>
                  <a:pt x="384084" y="1075630"/>
                  <a:pt x="1590585" y="1229844"/>
                  <a:pt x="1802856" y="1679787"/>
                </a:cubicBezTo>
                <a:cubicBezTo>
                  <a:pt x="2015127" y="2129730"/>
                  <a:pt x="1385570" y="3113073"/>
                  <a:pt x="1421856" y="3497701"/>
                </a:cubicBezTo>
                <a:cubicBezTo>
                  <a:pt x="1458142" y="3882329"/>
                  <a:pt x="1772013" y="4319572"/>
                  <a:pt x="2020570" y="3987558"/>
                </a:cubicBezTo>
                <a:cubicBezTo>
                  <a:pt x="2269127" y="3655544"/>
                  <a:pt x="3185342" y="2167829"/>
                  <a:pt x="2913199" y="1505615"/>
                </a:cubicBezTo>
                <a:cubicBezTo>
                  <a:pt x="2641056" y="843401"/>
                  <a:pt x="841284" y="130386"/>
                  <a:pt x="387713" y="14272"/>
                </a:cubicBezTo>
                <a:cubicBezTo>
                  <a:pt x="-65858" y="-101842"/>
                  <a:pt x="-87630" y="520458"/>
                  <a:pt x="148227" y="798044"/>
                </a:cubicBezTo>
                <a:close/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0661384-0535-803C-3AB1-20C6F0AA6035}"/>
              </a:ext>
            </a:extLst>
          </p:cNvPr>
          <p:cNvSpPr/>
          <p:nvPr/>
        </p:nvSpPr>
        <p:spPr>
          <a:xfrm>
            <a:off x="1077686" y="3724830"/>
            <a:ext cx="2472802" cy="2683670"/>
          </a:xfrm>
          <a:custGeom>
            <a:avLst/>
            <a:gdLst>
              <a:gd name="connsiteX0" fmla="*/ 291511 w 2472802"/>
              <a:gd name="connsiteY0" fmla="*/ 8970 h 2683670"/>
              <a:gd name="connsiteX1" fmla="*/ 2446882 w 2472802"/>
              <a:gd name="connsiteY1" fmla="*/ 466170 h 2683670"/>
              <a:gd name="connsiteX2" fmla="*/ 1423625 w 2472802"/>
              <a:gd name="connsiteY2" fmla="*/ 2556227 h 2683670"/>
              <a:gd name="connsiteX3" fmla="*/ 530996 w 2472802"/>
              <a:gd name="connsiteY3" fmla="*/ 2305856 h 2683670"/>
              <a:gd name="connsiteX4" fmla="*/ 1510711 w 2472802"/>
              <a:gd name="connsiteY4" fmla="*/ 1086656 h 2683670"/>
              <a:gd name="connsiteX5" fmla="*/ 149996 w 2472802"/>
              <a:gd name="connsiteY5" fmla="*/ 694770 h 2683670"/>
              <a:gd name="connsiteX6" fmla="*/ 291511 w 2472802"/>
              <a:gd name="connsiteY6" fmla="*/ 8970 h 2683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72802" h="2683670">
                <a:moveTo>
                  <a:pt x="291511" y="8970"/>
                </a:moveTo>
                <a:cubicBezTo>
                  <a:pt x="674325" y="-29130"/>
                  <a:pt x="2258196" y="41627"/>
                  <a:pt x="2446882" y="466170"/>
                </a:cubicBezTo>
                <a:cubicBezTo>
                  <a:pt x="2635568" y="890713"/>
                  <a:pt x="1742939" y="2249613"/>
                  <a:pt x="1423625" y="2556227"/>
                </a:cubicBezTo>
                <a:cubicBezTo>
                  <a:pt x="1104311" y="2862841"/>
                  <a:pt x="516482" y="2550785"/>
                  <a:pt x="530996" y="2305856"/>
                </a:cubicBezTo>
                <a:cubicBezTo>
                  <a:pt x="545510" y="2060927"/>
                  <a:pt x="1574211" y="1355170"/>
                  <a:pt x="1510711" y="1086656"/>
                </a:cubicBezTo>
                <a:cubicBezTo>
                  <a:pt x="1447211" y="818142"/>
                  <a:pt x="351382" y="878013"/>
                  <a:pt x="149996" y="694770"/>
                </a:cubicBezTo>
                <a:cubicBezTo>
                  <a:pt x="-51390" y="511527"/>
                  <a:pt x="-91303" y="47070"/>
                  <a:pt x="291511" y="8970"/>
                </a:cubicBezTo>
                <a:close/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8C91802-7896-99DF-486D-73EEB67DD4BA}"/>
              </a:ext>
            </a:extLst>
          </p:cNvPr>
          <p:cNvSpPr/>
          <p:nvPr/>
        </p:nvSpPr>
        <p:spPr>
          <a:xfrm>
            <a:off x="3222171" y="3145971"/>
            <a:ext cx="533400" cy="1240972"/>
          </a:xfrm>
          <a:custGeom>
            <a:avLst/>
            <a:gdLst>
              <a:gd name="connsiteX0" fmla="*/ 533400 w 533400"/>
              <a:gd name="connsiteY0" fmla="*/ 1240972 h 1240972"/>
              <a:gd name="connsiteX1" fmla="*/ 0 w 533400"/>
              <a:gd name="connsiteY1" fmla="*/ 0 h 124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3400" h="1240972">
                <a:moveTo>
                  <a:pt x="533400" y="1240972"/>
                </a:moveTo>
                <a:cubicBezTo>
                  <a:pt x="339271" y="752021"/>
                  <a:pt x="145143" y="263071"/>
                  <a:pt x="0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2B79185-6892-537A-D631-F8C8C8292592}"/>
              </a:ext>
            </a:extLst>
          </p:cNvPr>
          <p:cNvSpPr/>
          <p:nvPr/>
        </p:nvSpPr>
        <p:spPr>
          <a:xfrm>
            <a:off x="3243943" y="2982686"/>
            <a:ext cx="1061686" cy="2351314"/>
          </a:xfrm>
          <a:custGeom>
            <a:avLst/>
            <a:gdLst>
              <a:gd name="connsiteX0" fmla="*/ 544286 w 1061686"/>
              <a:gd name="connsiteY0" fmla="*/ 2351314 h 2351314"/>
              <a:gd name="connsiteX1" fmla="*/ 1045028 w 1061686"/>
              <a:gd name="connsiteY1" fmla="*/ 631371 h 2351314"/>
              <a:gd name="connsiteX2" fmla="*/ 0 w 1061686"/>
              <a:gd name="connsiteY2" fmla="*/ 0 h 2351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1686" h="2351314">
                <a:moveTo>
                  <a:pt x="544286" y="2351314"/>
                </a:moveTo>
                <a:cubicBezTo>
                  <a:pt x="840014" y="1687285"/>
                  <a:pt x="1135742" y="1023257"/>
                  <a:pt x="1045028" y="631371"/>
                </a:cubicBezTo>
                <a:cubicBezTo>
                  <a:pt x="954314" y="239485"/>
                  <a:pt x="87086" y="224971"/>
                  <a:pt x="0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5AC9D29-FFEA-306B-C6A1-26772EC77A92}"/>
              </a:ext>
            </a:extLst>
          </p:cNvPr>
          <p:cNvSpPr/>
          <p:nvPr/>
        </p:nvSpPr>
        <p:spPr>
          <a:xfrm rot="20207281">
            <a:off x="3122359" y="3034727"/>
            <a:ext cx="177851" cy="196886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8D2EF9D9-877F-5CFC-C455-0991456FC786}"/>
              </a:ext>
            </a:extLst>
          </p:cNvPr>
          <p:cNvSpPr/>
          <p:nvPr/>
        </p:nvSpPr>
        <p:spPr>
          <a:xfrm rot="19293666">
            <a:off x="3193059" y="2933884"/>
            <a:ext cx="177851" cy="196886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837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E1BC9-449E-7683-A1F6-6DFF455A8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83E42-90A8-B1EA-A663-AC86C4D83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771" y="151972"/>
            <a:ext cx="900089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Construction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3A3164-D148-E3EB-F457-6701BC12413A}"/>
              </a:ext>
            </a:extLst>
          </p:cNvPr>
          <p:cNvGraphicFramePr>
            <a:graphicFrameLocks noGrp="1"/>
          </p:cNvGraphicFramePr>
          <p:nvPr/>
        </p:nvGraphicFramePr>
        <p:xfrm>
          <a:off x="837631" y="1077430"/>
          <a:ext cx="932803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673">
                  <a:extLst>
                    <a:ext uri="{9D8B030D-6E8A-4147-A177-3AD203B41FA5}">
                      <a16:colId xmlns:a16="http://schemas.microsoft.com/office/drawing/2014/main" val="995775553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872555965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608945767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673990100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2046207148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24920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Array\Node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07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8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fl</a:t>
                      </a:r>
                      <a:endParaRPr lang="en-IN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02303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4D4410B-F025-837D-618B-0287605E60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98" y="2801151"/>
            <a:ext cx="6086475" cy="3733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7D8151-CA71-D6B2-B824-C5D1881E8E0C}"/>
              </a:ext>
            </a:extLst>
          </p:cNvPr>
          <p:cNvSpPr txBox="1"/>
          <p:nvPr/>
        </p:nvSpPr>
        <p:spPr>
          <a:xfrm>
            <a:off x="6096000" y="3195187"/>
            <a:ext cx="5316993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s = 4					   t = p[s] = 3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S = {4}				T = {1,2,3,5,6}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min-Cut = 14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Update p, fl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24DFFA8-B241-8C48-4108-FE72441804FD}"/>
              </a:ext>
            </a:extLst>
          </p:cNvPr>
          <p:cNvSpPr/>
          <p:nvPr/>
        </p:nvSpPr>
        <p:spPr>
          <a:xfrm>
            <a:off x="4797704" y="2502033"/>
            <a:ext cx="1115303" cy="1189573"/>
          </a:xfrm>
          <a:custGeom>
            <a:avLst/>
            <a:gdLst>
              <a:gd name="connsiteX0" fmla="*/ 2896 w 1115303"/>
              <a:gd name="connsiteY0" fmla="*/ 524196 h 1189573"/>
              <a:gd name="connsiteX1" fmla="*/ 405667 w 1115303"/>
              <a:gd name="connsiteY1" fmla="*/ 1188224 h 1189573"/>
              <a:gd name="connsiteX2" fmla="*/ 1113239 w 1115303"/>
              <a:gd name="connsiteY2" fmla="*/ 676596 h 1189573"/>
              <a:gd name="connsiteX3" fmla="*/ 601610 w 1115303"/>
              <a:gd name="connsiteY3" fmla="*/ 1681 h 1189573"/>
              <a:gd name="connsiteX4" fmla="*/ 2896 w 1115303"/>
              <a:gd name="connsiteY4" fmla="*/ 524196 h 1189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303" h="1189573">
                <a:moveTo>
                  <a:pt x="2896" y="524196"/>
                </a:moveTo>
                <a:cubicBezTo>
                  <a:pt x="-29761" y="721953"/>
                  <a:pt x="220610" y="1162824"/>
                  <a:pt x="405667" y="1188224"/>
                </a:cubicBezTo>
                <a:cubicBezTo>
                  <a:pt x="590724" y="1213624"/>
                  <a:pt x="1080582" y="874353"/>
                  <a:pt x="1113239" y="676596"/>
                </a:cubicBezTo>
                <a:cubicBezTo>
                  <a:pt x="1145896" y="478839"/>
                  <a:pt x="783039" y="30710"/>
                  <a:pt x="601610" y="1681"/>
                </a:cubicBezTo>
                <a:cubicBezTo>
                  <a:pt x="420181" y="-27348"/>
                  <a:pt x="35553" y="326439"/>
                  <a:pt x="2896" y="524196"/>
                </a:cubicBezTo>
                <a:close/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DBF6CDE-6DB1-4E24-31F0-9E01F50DD5FC}"/>
              </a:ext>
            </a:extLst>
          </p:cNvPr>
          <p:cNvSpPr/>
          <p:nvPr/>
        </p:nvSpPr>
        <p:spPr>
          <a:xfrm>
            <a:off x="779007" y="2641800"/>
            <a:ext cx="4986981" cy="4052502"/>
          </a:xfrm>
          <a:custGeom>
            <a:avLst/>
            <a:gdLst>
              <a:gd name="connsiteX0" fmla="*/ 716792 w 4986981"/>
              <a:gd name="connsiteY0" fmla="*/ 24978 h 4052502"/>
              <a:gd name="connsiteX1" fmla="*/ 1870678 w 4986981"/>
              <a:gd name="connsiteY1" fmla="*/ 1418350 h 4052502"/>
              <a:gd name="connsiteX2" fmla="*/ 3830107 w 4986981"/>
              <a:gd name="connsiteY2" fmla="*/ 1461892 h 4052502"/>
              <a:gd name="connsiteX3" fmla="*/ 4973107 w 4986981"/>
              <a:gd name="connsiteY3" fmla="*/ 3530178 h 4052502"/>
              <a:gd name="connsiteX4" fmla="*/ 4396164 w 4986981"/>
              <a:gd name="connsiteY4" fmla="*/ 3987378 h 4052502"/>
              <a:gd name="connsiteX5" fmla="*/ 3394678 w 4986981"/>
              <a:gd name="connsiteY5" fmla="*/ 2430721 h 4052502"/>
              <a:gd name="connsiteX6" fmla="*/ 1935992 w 4986981"/>
              <a:gd name="connsiteY6" fmla="*/ 2354521 h 4052502"/>
              <a:gd name="connsiteX7" fmla="*/ 1043364 w 4986981"/>
              <a:gd name="connsiteY7" fmla="*/ 3769664 h 4052502"/>
              <a:gd name="connsiteX8" fmla="*/ 172507 w 4986981"/>
              <a:gd name="connsiteY8" fmla="*/ 3345121 h 4052502"/>
              <a:gd name="connsiteX9" fmla="*/ 1228421 w 4986981"/>
              <a:gd name="connsiteY9" fmla="*/ 2038835 h 4052502"/>
              <a:gd name="connsiteX10" fmla="*/ 9221 w 4986981"/>
              <a:gd name="connsiteY10" fmla="*/ 634578 h 4052502"/>
              <a:gd name="connsiteX11" fmla="*/ 716792 w 4986981"/>
              <a:gd name="connsiteY11" fmla="*/ 24978 h 4052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86981" h="4052502">
                <a:moveTo>
                  <a:pt x="716792" y="24978"/>
                </a:moveTo>
                <a:cubicBezTo>
                  <a:pt x="1027035" y="155607"/>
                  <a:pt x="1351792" y="1178864"/>
                  <a:pt x="1870678" y="1418350"/>
                </a:cubicBezTo>
                <a:cubicBezTo>
                  <a:pt x="2389564" y="1657836"/>
                  <a:pt x="3313035" y="1109921"/>
                  <a:pt x="3830107" y="1461892"/>
                </a:cubicBezTo>
                <a:cubicBezTo>
                  <a:pt x="4347179" y="1813863"/>
                  <a:pt x="4878764" y="3109264"/>
                  <a:pt x="4973107" y="3530178"/>
                </a:cubicBezTo>
                <a:cubicBezTo>
                  <a:pt x="5067450" y="3951092"/>
                  <a:pt x="4659236" y="4170621"/>
                  <a:pt x="4396164" y="3987378"/>
                </a:cubicBezTo>
                <a:cubicBezTo>
                  <a:pt x="4133092" y="3804135"/>
                  <a:pt x="3804707" y="2702864"/>
                  <a:pt x="3394678" y="2430721"/>
                </a:cubicBezTo>
                <a:cubicBezTo>
                  <a:pt x="2984649" y="2158578"/>
                  <a:pt x="2327877" y="2131364"/>
                  <a:pt x="1935992" y="2354521"/>
                </a:cubicBezTo>
                <a:cubicBezTo>
                  <a:pt x="1544107" y="2577678"/>
                  <a:pt x="1337278" y="3604564"/>
                  <a:pt x="1043364" y="3769664"/>
                </a:cubicBezTo>
                <a:cubicBezTo>
                  <a:pt x="749450" y="3934764"/>
                  <a:pt x="141664" y="3633592"/>
                  <a:pt x="172507" y="3345121"/>
                </a:cubicBezTo>
                <a:cubicBezTo>
                  <a:pt x="203350" y="3056650"/>
                  <a:pt x="1255635" y="2490592"/>
                  <a:pt x="1228421" y="2038835"/>
                </a:cubicBezTo>
                <a:cubicBezTo>
                  <a:pt x="1201207" y="1587078"/>
                  <a:pt x="90864" y="966592"/>
                  <a:pt x="9221" y="634578"/>
                </a:cubicBezTo>
                <a:cubicBezTo>
                  <a:pt x="-72422" y="302564"/>
                  <a:pt x="406549" y="-105651"/>
                  <a:pt x="716792" y="24978"/>
                </a:cubicBezTo>
                <a:close/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811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2129D-F22B-A5EE-8F52-1B9BF38E6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136E3-921B-B11F-228D-5A7556BE0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771" y="151972"/>
            <a:ext cx="900089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Construction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A1A386-4C20-42A8-1AC5-31819B580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399664"/>
              </p:ext>
            </p:extLst>
          </p:nvPr>
        </p:nvGraphicFramePr>
        <p:xfrm>
          <a:off x="837631" y="1077430"/>
          <a:ext cx="932803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673">
                  <a:extLst>
                    <a:ext uri="{9D8B030D-6E8A-4147-A177-3AD203B41FA5}">
                      <a16:colId xmlns:a16="http://schemas.microsoft.com/office/drawing/2014/main" val="995775553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872555965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608945767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673990100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2046207148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24920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Array\Node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07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8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fl</a:t>
                      </a:r>
                      <a:endParaRPr lang="en-IN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02303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AB4B24D-C021-EDE2-434D-50789DBD1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24" y="2801151"/>
            <a:ext cx="6086475" cy="3733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72622F-7D9C-D7BD-D5A1-D2F3BE514141}"/>
              </a:ext>
            </a:extLst>
          </p:cNvPr>
          <p:cNvSpPr txBox="1"/>
          <p:nvPr/>
        </p:nvSpPr>
        <p:spPr>
          <a:xfrm>
            <a:off x="6096000" y="3304044"/>
            <a:ext cx="5316993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s = 5					   t = p[s] = 3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S = {1,2,4,5,6}				T = {3}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min-Cut = 15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Update p, fl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56AA498-17C9-47AD-5491-07546E04A66E}"/>
              </a:ext>
            </a:extLst>
          </p:cNvPr>
          <p:cNvSpPr/>
          <p:nvPr/>
        </p:nvSpPr>
        <p:spPr>
          <a:xfrm>
            <a:off x="3829965" y="4086896"/>
            <a:ext cx="994454" cy="924359"/>
          </a:xfrm>
          <a:custGeom>
            <a:avLst/>
            <a:gdLst>
              <a:gd name="connsiteX0" fmla="*/ 56235 w 994454"/>
              <a:gd name="connsiteY0" fmla="*/ 114990 h 924359"/>
              <a:gd name="connsiteX1" fmla="*/ 154206 w 994454"/>
              <a:gd name="connsiteY1" fmla="*/ 887875 h 924359"/>
              <a:gd name="connsiteX2" fmla="*/ 948864 w 994454"/>
              <a:gd name="connsiteY2" fmla="*/ 724590 h 924359"/>
              <a:gd name="connsiteX3" fmla="*/ 807349 w 994454"/>
              <a:gd name="connsiteY3" fmla="*/ 71447 h 924359"/>
              <a:gd name="connsiteX4" fmla="*/ 56235 w 994454"/>
              <a:gd name="connsiteY4" fmla="*/ 114990 h 92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4454" h="924359">
                <a:moveTo>
                  <a:pt x="56235" y="114990"/>
                </a:moveTo>
                <a:cubicBezTo>
                  <a:pt x="-52622" y="251061"/>
                  <a:pt x="5435" y="786275"/>
                  <a:pt x="154206" y="887875"/>
                </a:cubicBezTo>
                <a:cubicBezTo>
                  <a:pt x="302977" y="989475"/>
                  <a:pt x="840007" y="860661"/>
                  <a:pt x="948864" y="724590"/>
                </a:cubicBezTo>
                <a:cubicBezTo>
                  <a:pt x="1057721" y="588519"/>
                  <a:pt x="956120" y="180304"/>
                  <a:pt x="807349" y="71447"/>
                </a:cubicBezTo>
                <a:cubicBezTo>
                  <a:pt x="658578" y="-37410"/>
                  <a:pt x="165092" y="-21081"/>
                  <a:pt x="56235" y="114990"/>
                </a:cubicBezTo>
                <a:close/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D24A6B6-E5EE-CA76-A302-D32B21E2583D}"/>
              </a:ext>
            </a:extLst>
          </p:cNvPr>
          <p:cNvSpPr/>
          <p:nvPr/>
        </p:nvSpPr>
        <p:spPr>
          <a:xfrm>
            <a:off x="836127" y="2686672"/>
            <a:ext cx="2137381" cy="3819136"/>
          </a:xfrm>
          <a:custGeom>
            <a:avLst/>
            <a:gdLst>
              <a:gd name="connsiteX0" fmla="*/ 546359 w 2137381"/>
              <a:gd name="connsiteY0" fmla="*/ 45642 h 3819136"/>
              <a:gd name="connsiteX1" fmla="*/ 2135673 w 2137381"/>
              <a:gd name="connsiteY1" fmla="*/ 1732928 h 3819136"/>
              <a:gd name="connsiteX2" fmla="*/ 840273 w 2137381"/>
              <a:gd name="connsiteY2" fmla="*/ 3735899 h 3819136"/>
              <a:gd name="connsiteX3" fmla="*/ 176244 w 2137381"/>
              <a:gd name="connsiteY3" fmla="*/ 3300471 h 3819136"/>
              <a:gd name="connsiteX4" fmla="*/ 1177730 w 2137381"/>
              <a:gd name="connsiteY4" fmla="*/ 2026842 h 3819136"/>
              <a:gd name="connsiteX5" fmla="*/ 23844 w 2137381"/>
              <a:gd name="connsiteY5" fmla="*/ 611699 h 3819136"/>
              <a:gd name="connsiteX6" fmla="*/ 546359 w 2137381"/>
              <a:gd name="connsiteY6" fmla="*/ 45642 h 3819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7381" h="3819136">
                <a:moveTo>
                  <a:pt x="546359" y="45642"/>
                </a:moveTo>
                <a:cubicBezTo>
                  <a:pt x="898331" y="232514"/>
                  <a:pt x="2086687" y="1117885"/>
                  <a:pt x="2135673" y="1732928"/>
                </a:cubicBezTo>
                <a:cubicBezTo>
                  <a:pt x="2184659" y="2347971"/>
                  <a:pt x="1166844" y="3474642"/>
                  <a:pt x="840273" y="3735899"/>
                </a:cubicBezTo>
                <a:cubicBezTo>
                  <a:pt x="513702" y="3997156"/>
                  <a:pt x="120001" y="3585314"/>
                  <a:pt x="176244" y="3300471"/>
                </a:cubicBezTo>
                <a:cubicBezTo>
                  <a:pt x="232487" y="3015628"/>
                  <a:pt x="1203130" y="2474971"/>
                  <a:pt x="1177730" y="2026842"/>
                </a:cubicBezTo>
                <a:cubicBezTo>
                  <a:pt x="1152330" y="1578713"/>
                  <a:pt x="132701" y="938270"/>
                  <a:pt x="23844" y="611699"/>
                </a:cubicBezTo>
                <a:cubicBezTo>
                  <a:pt x="-85013" y="285128"/>
                  <a:pt x="194387" y="-141230"/>
                  <a:pt x="546359" y="45642"/>
                </a:cubicBezTo>
                <a:close/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9703CDD-D492-B694-F2BA-37311F747FAC}"/>
              </a:ext>
            </a:extLst>
          </p:cNvPr>
          <p:cNvSpPr/>
          <p:nvPr/>
        </p:nvSpPr>
        <p:spPr>
          <a:xfrm>
            <a:off x="4713079" y="2643610"/>
            <a:ext cx="1535429" cy="3953027"/>
          </a:xfrm>
          <a:custGeom>
            <a:avLst/>
            <a:gdLst>
              <a:gd name="connsiteX0" fmla="*/ 98407 w 1535429"/>
              <a:gd name="connsiteY0" fmla="*/ 535019 h 3953027"/>
              <a:gd name="connsiteX1" fmla="*/ 784207 w 1535429"/>
              <a:gd name="connsiteY1" fmla="*/ 1634476 h 3953027"/>
              <a:gd name="connsiteX2" fmla="*/ 435 w 1535429"/>
              <a:gd name="connsiteY2" fmla="*/ 3245561 h 3953027"/>
              <a:gd name="connsiteX3" fmla="*/ 686235 w 1535429"/>
              <a:gd name="connsiteY3" fmla="*/ 3909590 h 3953027"/>
              <a:gd name="connsiteX4" fmla="*/ 1535321 w 1535429"/>
              <a:gd name="connsiteY4" fmla="*/ 2102561 h 3953027"/>
              <a:gd name="connsiteX5" fmla="*/ 740664 w 1535429"/>
              <a:gd name="connsiteY5" fmla="*/ 77819 h 3953027"/>
              <a:gd name="connsiteX6" fmla="*/ 98407 w 1535429"/>
              <a:gd name="connsiteY6" fmla="*/ 535019 h 3953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35429" h="3953027">
                <a:moveTo>
                  <a:pt x="98407" y="535019"/>
                </a:moveTo>
                <a:cubicBezTo>
                  <a:pt x="105664" y="794462"/>
                  <a:pt x="800536" y="1182719"/>
                  <a:pt x="784207" y="1634476"/>
                </a:cubicBezTo>
                <a:cubicBezTo>
                  <a:pt x="767878" y="2086233"/>
                  <a:pt x="16764" y="2866375"/>
                  <a:pt x="435" y="3245561"/>
                </a:cubicBezTo>
                <a:cubicBezTo>
                  <a:pt x="-15894" y="3624747"/>
                  <a:pt x="430421" y="4100090"/>
                  <a:pt x="686235" y="3909590"/>
                </a:cubicBezTo>
                <a:cubicBezTo>
                  <a:pt x="942049" y="3719090"/>
                  <a:pt x="1526250" y="2741189"/>
                  <a:pt x="1535321" y="2102561"/>
                </a:cubicBezTo>
                <a:cubicBezTo>
                  <a:pt x="1544392" y="1463933"/>
                  <a:pt x="983778" y="339076"/>
                  <a:pt x="740664" y="77819"/>
                </a:cubicBezTo>
                <a:cubicBezTo>
                  <a:pt x="497550" y="-183438"/>
                  <a:pt x="91150" y="275576"/>
                  <a:pt x="98407" y="535019"/>
                </a:cubicBezTo>
                <a:close/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421298B-F683-C890-5360-589A5CF9E06E}"/>
              </a:ext>
            </a:extLst>
          </p:cNvPr>
          <p:cNvSpPr/>
          <p:nvPr/>
        </p:nvSpPr>
        <p:spPr>
          <a:xfrm>
            <a:off x="3374571" y="4833258"/>
            <a:ext cx="1632858" cy="1137736"/>
          </a:xfrm>
          <a:custGeom>
            <a:avLst/>
            <a:gdLst>
              <a:gd name="connsiteX0" fmla="*/ 0 w 1632858"/>
              <a:gd name="connsiteY0" fmla="*/ 0 h 1273629"/>
              <a:gd name="connsiteX1" fmla="*/ 1632858 w 1632858"/>
              <a:gd name="connsiteY1" fmla="*/ 1273629 h 1273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32858" h="1273629">
                <a:moveTo>
                  <a:pt x="0" y="0"/>
                </a:moveTo>
                <a:lnTo>
                  <a:pt x="1632858" y="1273629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537FCE8-0D53-6D71-6D33-431071C3DE6E}"/>
              </a:ext>
            </a:extLst>
          </p:cNvPr>
          <p:cNvSpPr/>
          <p:nvPr/>
        </p:nvSpPr>
        <p:spPr>
          <a:xfrm>
            <a:off x="5007429" y="4049486"/>
            <a:ext cx="228600" cy="1807028"/>
          </a:xfrm>
          <a:custGeom>
            <a:avLst/>
            <a:gdLst>
              <a:gd name="connsiteX0" fmla="*/ 0 w 228600"/>
              <a:gd name="connsiteY0" fmla="*/ 0 h 1807028"/>
              <a:gd name="connsiteX1" fmla="*/ 228600 w 228600"/>
              <a:gd name="connsiteY1" fmla="*/ 1807028 h 1807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8600" h="1807028">
                <a:moveTo>
                  <a:pt x="0" y="0"/>
                </a:moveTo>
                <a:cubicBezTo>
                  <a:pt x="92528" y="860878"/>
                  <a:pt x="185057" y="1721757"/>
                  <a:pt x="228600" y="1807028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0227F443-FC5D-015E-0C8C-DDEF388BB2CF}"/>
              </a:ext>
            </a:extLst>
          </p:cNvPr>
          <p:cNvSpPr/>
          <p:nvPr/>
        </p:nvSpPr>
        <p:spPr>
          <a:xfrm rot="7659755">
            <a:off x="4955088" y="5909504"/>
            <a:ext cx="177851" cy="196886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DB3606A-61F3-4E1D-060A-00D47E7110B3}"/>
              </a:ext>
            </a:extLst>
          </p:cNvPr>
          <p:cNvSpPr/>
          <p:nvPr/>
        </p:nvSpPr>
        <p:spPr>
          <a:xfrm rot="10492571">
            <a:off x="5130165" y="5724468"/>
            <a:ext cx="177851" cy="196886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729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B665B-A38F-2484-E368-E5F328DE3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869D-D16A-2BAE-87B2-09C91ED6A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771" y="151972"/>
            <a:ext cx="900089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Construction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3D67E1-9337-5378-7933-CBC08455A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264615"/>
              </p:ext>
            </p:extLst>
          </p:nvPr>
        </p:nvGraphicFramePr>
        <p:xfrm>
          <a:off x="837631" y="1077430"/>
          <a:ext cx="932803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673">
                  <a:extLst>
                    <a:ext uri="{9D8B030D-6E8A-4147-A177-3AD203B41FA5}">
                      <a16:colId xmlns:a16="http://schemas.microsoft.com/office/drawing/2014/main" val="995775553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872555965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608945767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673990100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2046207148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24920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Array\Node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07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8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fl</a:t>
                      </a:r>
                      <a:endParaRPr lang="en-IN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02303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573F3FF-B0D9-01A6-2108-F0475598C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89" y="2801151"/>
            <a:ext cx="6086475" cy="3733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AA515F-C9BA-F504-4A15-4FAC66D47ED4}"/>
              </a:ext>
            </a:extLst>
          </p:cNvPr>
          <p:cNvSpPr txBox="1"/>
          <p:nvPr/>
        </p:nvSpPr>
        <p:spPr>
          <a:xfrm>
            <a:off x="6256140" y="3105578"/>
            <a:ext cx="5316993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s = 6					   t = p[s] = 2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S = {3,4,5,6}				T = {1,2}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min-Cut = 17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Update p, </a:t>
            </a:r>
            <a:r>
              <a:rPr lang="en-US" sz="2600" dirty="0" err="1">
                <a:solidFill>
                  <a:srgbClr val="FFFF00"/>
                </a:solidFill>
              </a:rPr>
              <a:t>fl</a:t>
            </a:r>
            <a:endParaRPr lang="en-US" sz="2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7B60445-B1F9-7E89-2D29-9745FB3E42E5}"/>
              </a:ext>
            </a:extLst>
          </p:cNvPr>
          <p:cNvSpPr/>
          <p:nvPr/>
        </p:nvSpPr>
        <p:spPr>
          <a:xfrm>
            <a:off x="759455" y="2473541"/>
            <a:ext cx="5706608" cy="4099277"/>
          </a:xfrm>
          <a:custGeom>
            <a:avLst/>
            <a:gdLst>
              <a:gd name="connsiteX0" fmla="*/ 503288 w 5706608"/>
              <a:gd name="connsiteY0" fmla="*/ 3034630 h 4099277"/>
              <a:gd name="connsiteX1" fmla="*/ 2713088 w 5706608"/>
              <a:gd name="connsiteY1" fmla="*/ 3012859 h 4099277"/>
              <a:gd name="connsiteX2" fmla="*/ 3725459 w 5706608"/>
              <a:gd name="connsiteY2" fmla="*/ 356745 h 4099277"/>
              <a:gd name="connsiteX3" fmla="*/ 5282116 w 5706608"/>
              <a:gd name="connsiteY3" fmla="*/ 400288 h 4099277"/>
              <a:gd name="connsiteX4" fmla="*/ 5282116 w 5706608"/>
              <a:gd name="connsiteY4" fmla="*/ 3796630 h 4099277"/>
              <a:gd name="connsiteX5" fmla="*/ 427088 w 5706608"/>
              <a:gd name="connsiteY5" fmla="*/ 3851059 h 4099277"/>
              <a:gd name="connsiteX6" fmla="*/ 503288 w 5706608"/>
              <a:gd name="connsiteY6" fmla="*/ 3034630 h 4099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6608" h="4099277">
                <a:moveTo>
                  <a:pt x="503288" y="3034630"/>
                </a:moveTo>
                <a:cubicBezTo>
                  <a:pt x="884288" y="2894930"/>
                  <a:pt x="2176060" y="3459173"/>
                  <a:pt x="2713088" y="3012859"/>
                </a:cubicBezTo>
                <a:cubicBezTo>
                  <a:pt x="3250116" y="2566545"/>
                  <a:pt x="3297288" y="792173"/>
                  <a:pt x="3725459" y="356745"/>
                </a:cubicBezTo>
                <a:cubicBezTo>
                  <a:pt x="4153630" y="-78683"/>
                  <a:pt x="5022673" y="-173026"/>
                  <a:pt x="5282116" y="400288"/>
                </a:cubicBezTo>
                <a:cubicBezTo>
                  <a:pt x="5541559" y="973602"/>
                  <a:pt x="6091287" y="3221502"/>
                  <a:pt x="5282116" y="3796630"/>
                </a:cubicBezTo>
                <a:cubicBezTo>
                  <a:pt x="4472945" y="4371758"/>
                  <a:pt x="1223559" y="3972616"/>
                  <a:pt x="427088" y="3851059"/>
                </a:cubicBezTo>
                <a:cubicBezTo>
                  <a:pt x="-369383" y="3729502"/>
                  <a:pt x="122288" y="3174330"/>
                  <a:pt x="503288" y="3034630"/>
                </a:cubicBezTo>
                <a:close/>
              </a:path>
            </a:pathLst>
          </a:cu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6C69D1F-33A2-7A83-BB50-A6FF50408C66}"/>
              </a:ext>
            </a:extLst>
          </p:cNvPr>
          <p:cNvSpPr/>
          <p:nvPr/>
        </p:nvSpPr>
        <p:spPr>
          <a:xfrm>
            <a:off x="923851" y="2563654"/>
            <a:ext cx="2198494" cy="2579608"/>
          </a:xfrm>
          <a:custGeom>
            <a:avLst/>
            <a:gdLst>
              <a:gd name="connsiteX0" fmla="*/ 23206 w 2198494"/>
              <a:gd name="connsiteY0" fmla="*/ 462575 h 2579608"/>
              <a:gd name="connsiteX1" fmla="*/ 1438349 w 2198494"/>
              <a:gd name="connsiteY1" fmla="*/ 2519975 h 2579608"/>
              <a:gd name="connsiteX2" fmla="*/ 2178578 w 2198494"/>
              <a:gd name="connsiteY2" fmla="*/ 1855946 h 2579608"/>
              <a:gd name="connsiteX3" fmla="*/ 676349 w 2198494"/>
              <a:gd name="connsiteY3" fmla="*/ 103346 h 2579608"/>
              <a:gd name="connsiteX4" fmla="*/ 23206 w 2198494"/>
              <a:gd name="connsiteY4" fmla="*/ 462575 h 2579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8494" h="2579608">
                <a:moveTo>
                  <a:pt x="23206" y="462575"/>
                </a:moveTo>
                <a:cubicBezTo>
                  <a:pt x="150206" y="865347"/>
                  <a:pt x="1079120" y="2287747"/>
                  <a:pt x="1438349" y="2519975"/>
                </a:cubicBezTo>
                <a:cubicBezTo>
                  <a:pt x="1797578" y="2752203"/>
                  <a:pt x="2305578" y="2258718"/>
                  <a:pt x="2178578" y="1855946"/>
                </a:cubicBezTo>
                <a:cubicBezTo>
                  <a:pt x="2051578" y="1453175"/>
                  <a:pt x="1037392" y="341017"/>
                  <a:pt x="676349" y="103346"/>
                </a:cubicBezTo>
                <a:cubicBezTo>
                  <a:pt x="315306" y="-134325"/>
                  <a:pt x="-103794" y="59803"/>
                  <a:pt x="23206" y="462575"/>
                </a:cubicBezTo>
                <a:close/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AC0B445-0639-6755-8BDA-E6A9E2C724DB}"/>
              </a:ext>
            </a:extLst>
          </p:cNvPr>
          <p:cNvSpPr/>
          <p:nvPr/>
        </p:nvSpPr>
        <p:spPr>
          <a:xfrm>
            <a:off x="1850571" y="4789714"/>
            <a:ext cx="1589315" cy="1066800"/>
          </a:xfrm>
          <a:custGeom>
            <a:avLst/>
            <a:gdLst>
              <a:gd name="connsiteX0" fmla="*/ 1589315 w 1589315"/>
              <a:gd name="connsiteY0" fmla="*/ 0 h 1066800"/>
              <a:gd name="connsiteX1" fmla="*/ 1262743 w 1589315"/>
              <a:gd name="connsiteY1" fmla="*/ 587829 h 1066800"/>
              <a:gd name="connsiteX2" fmla="*/ 0 w 1589315"/>
              <a:gd name="connsiteY2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89315" h="1066800">
                <a:moveTo>
                  <a:pt x="1589315" y="0"/>
                </a:moveTo>
                <a:cubicBezTo>
                  <a:pt x="1558472" y="205014"/>
                  <a:pt x="1527629" y="410029"/>
                  <a:pt x="1262743" y="587829"/>
                </a:cubicBezTo>
                <a:cubicBezTo>
                  <a:pt x="997857" y="765629"/>
                  <a:pt x="99786" y="986972"/>
                  <a:pt x="0" y="106680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3232457-09B9-D1D0-0B93-FA474430CC3E}"/>
              </a:ext>
            </a:extLst>
          </p:cNvPr>
          <p:cNvSpPr/>
          <p:nvPr/>
        </p:nvSpPr>
        <p:spPr>
          <a:xfrm rot="14659589">
            <a:off x="1761646" y="5740662"/>
            <a:ext cx="177851" cy="196886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248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5ECDF-D489-D2C1-9351-5C830C428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7B4B1-7738-C0F9-5847-9F07A9D83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771" y="151972"/>
            <a:ext cx="900089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Construction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5AC686-0177-B043-79FB-8CBEF9611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635060"/>
              </p:ext>
            </p:extLst>
          </p:nvPr>
        </p:nvGraphicFramePr>
        <p:xfrm>
          <a:off x="837631" y="1077430"/>
          <a:ext cx="932803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673">
                  <a:extLst>
                    <a:ext uri="{9D8B030D-6E8A-4147-A177-3AD203B41FA5}">
                      <a16:colId xmlns:a16="http://schemas.microsoft.com/office/drawing/2014/main" val="995775553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872555965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608945767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3673990100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2046207148"/>
                    </a:ext>
                  </a:extLst>
                </a:gridCol>
                <a:gridCol w="1554673">
                  <a:extLst>
                    <a:ext uri="{9D8B030D-6E8A-4147-A177-3AD203B41FA5}">
                      <a16:colId xmlns:a16="http://schemas.microsoft.com/office/drawing/2014/main" val="24920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Array\Node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07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8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fl</a:t>
                      </a:r>
                      <a:endParaRPr lang="en-IN" b="1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0230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4A552B4-B609-AEA6-D5A0-82B86232A0CE}"/>
              </a:ext>
            </a:extLst>
          </p:cNvPr>
          <p:cNvSpPr txBox="1"/>
          <p:nvPr/>
        </p:nvSpPr>
        <p:spPr>
          <a:xfrm>
            <a:off x="6096000" y="3763872"/>
            <a:ext cx="53169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sz="2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Terminate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EA159-6DE1-657B-D450-1C42A4FFD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020" y="2389415"/>
            <a:ext cx="608647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766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1C45-0938-93C6-67C9-FF0ABC63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4AD45-1057-D66B-6209-1EE38799A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529" y="154319"/>
            <a:ext cx="882565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 Gomory-Hu Tree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88C11C-DF1C-4B5F-1536-DA0338BA5EC2}"/>
                  </a:ext>
                </a:extLst>
              </p:cNvPr>
              <p:cNvSpPr txBox="1"/>
              <p:nvPr/>
            </p:nvSpPr>
            <p:spPr>
              <a:xfrm>
                <a:off x="1045029" y="1271455"/>
                <a:ext cx="10101942" cy="4554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Bef>
                    <a:spcPts val="1800"/>
                  </a:spcBef>
                </a:pPr>
                <a:r>
                  <a:rPr lang="en-US" sz="2800" b="1" dirty="0">
                    <a:solidFill>
                      <a:srgbClr val="92D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Dynamic Gomory-Hu Tree </a:t>
                </a:r>
                <a:r>
                  <a:rPr lang="en-US" sz="2450" dirty="0"/>
                  <a:t>allows us to efficiently update the initially constructed Gomory-Hu tree after each modification in each weight with minimal number of newer flow computations.</a:t>
                </a:r>
                <a:endParaRPr lang="en-US" sz="245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algn="just">
                  <a:spcBef>
                    <a:spcPts val="1800"/>
                  </a:spcBef>
                </a:pPr>
                <a:endParaRPr lang="en-US" sz="245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algn="just"/>
                <a:r>
                  <a:rPr lang="en-US" sz="2800" b="1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Time Complexity</a:t>
                </a:r>
              </a:p>
              <a:p>
                <a:pPr algn="just"/>
                <a:r>
                  <a:rPr lang="en-US" sz="2400" dirty="0"/>
                  <a:t>For any 2 vertices u, v newer flow computations required:</a:t>
                </a:r>
                <a:endParaRPr 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342900" indent="-342900" algn="just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6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Edge is an existing/new Bridge</a:t>
                </a:r>
                <a:r>
                  <a:rPr lang="en-US" sz="2400" dirty="0"/>
                  <a:t>	    </a:t>
                </a:r>
                <a:r>
                  <a:rPr lang="en-US" sz="2800" dirty="0"/>
                  <a:t>=</a:t>
                </a:r>
                <a:r>
                  <a:rPr lang="en-US" sz="2400" dirty="0"/>
                  <a:t>         </a:t>
                </a:r>
                <a:r>
                  <a:rPr lang="en-US" sz="2600" dirty="0"/>
                  <a:t> 0</a:t>
                </a:r>
                <a:endParaRPr lang="en-US" sz="2600" dirty="0">
                  <a:solidFill>
                    <a:srgbClr val="FFFF00"/>
                  </a:solidFill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sz="26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Edge weight Increases/Insertion   </a:t>
                </a:r>
                <a:r>
                  <a:rPr lang="en-US" sz="2800" dirty="0"/>
                  <a:t>=   </a:t>
                </a:r>
                <a14:m>
                  <m:oMath xmlns:m="http://schemas.openxmlformats.org/officeDocument/2006/math">
                    <m:r>
                      <a:rPr lang="en-US" sz="25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2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500" dirty="0"/>
              </a:p>
              <a:p>
                <a:pPr marL="4572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6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Edge weight Decreases/Deletion 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≤ 2+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</m:nary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88C11C-DF1C-4B5F-1536-DA0338BA5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9" y="1271455"/>
                <a:ext cx="10101942" cy="4554195"/>
              </a:xfrm>
              <a:prstGeom prst="rect">
                <a:avLst/>
              </a:prstGeom>
              <a:blipFill>
                <a:blip r:embed="rId2"/>
                <a:stretch>
                  <a:fillRect l="-1267" t="-1606" r="-905" b="-182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974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770A3-D711-32BF-88D7-ADCCCDB16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6D1C1-7C86-8E31-0072-5498C9DF7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2629" y="86657"/>
            <a:ext cx="9447212" cy="805543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Construction of Dynamic Gomory-Hu Tree</a:t>
            </a:r>
            <a:endParaRPr lang="en-IN" sz="3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26BDB1-2A0E-0CE2-56A3-E664E8D486FC}"/>
              </a:ext>
            </a:extLst>
          </p:cNvPr>
          <p:cNvSpPr txBox="1"/>
          <p:nvPr/>
        </p:nvSpPr>
        <p:spPr>
          <a:xfrm>
            <a:off x="968829" y="1076360"/>
            <a:ext cx="937101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 will start with the initially constructed Gomory-Hu tree and show construction in the following 2 cases:</a:t>
            </a:r>
          </a:p>
          <a:p>
            <a:pPr marL="514350" indent="-514350" algn="just">
              <a:lnSpc>
                <a:spcPct val="200000"/>
              </a:lnSpc>
              <a:buAutoNum type="arabicPeriod"/>
            </a:pP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Existing Edge weight increases</a:t>
            </a:r>
          </a:p>
          <a:p>
            <a:pPr marL="514350" indent="-514350" algn="just">
              <a:buAutoNum type="arabicPeriod"/>
            </a:pP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Existing Edge weight decreases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BD0B17-0671-51F4-B5A9-338467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048" y="3037543"/>
            <a:ext cx="608647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14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9022F-E695-9D15-F956-F410EA653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A01D1-C8C4-647A-CAA2-2ABB8DFEB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771" y="151972"/>
            <a:ext cx="900089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Increase </a:t>
            </a:r>
            <a:r>
              <a:rPr 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(2,3) by 3 </a:t>
            </a:r>
            <a:endParaRPr lang="en-IN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FF37ED-543F-C2B6-83F3-75AF6DF81B26}"/>
                  </a:ext>
                </a:extLst>
              </p:cNvPr>
              <p:cNvSpPr txBox="1"/>
              <p:nvPr/>
            </p:nvSpPr>
            <p:spPr>
              <a:xfrm>
                <a:off x="5424518" y="2510074"/>
                <a:ext cx="6372791" cy="38625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800"/>
                  </a:spcBef>
                </a:pPr>
                <a:r>
                  <a:rPr lang="en-US" sz="2500" b="1" dirty="0">
                    <a:solidFill>
                      <a:srgbClr val="00B0F0"/>
                    </a:solidFill>
                  </a:rPr>
                  <a:t>Algorithm</a:t>
                </a:r>
                <a:r>
                  <a:rPr lang="en-US" sz="2500" dirty="0">
                    <a:solidFill>
                      <a:srgbClr val="00B0F0"/>
                    </a:solidFill>
                  </a:rPr>
                  <a:t>:</a:t>
                </a:r>
              </a:p>
              <a:p>
                <a:pPr marL="457200" indent="-457200" algn="just">
                  <a:spcBef>
                    <a:spcPts val="1800"/>
                  </a:spcBef>
                  <a:buFontTx/>
                  <a:buChar char="-"/>
                </a:pPr>
                <a:r>
                  <a:rPr lang="en-US" sz="2500" dirty="0">
                    <a:solidFill>
                      <a:srgbClr val="FFFF00"/>
                    </a:solidFill>
                  </a:rPr>
                  <a:t>Contract all the vertices in</a:t>
                </a:r>
                <a:r>
                  <a:rPr lang="en-US" sz="2500" dirty="0">
                    <a:solidFill>
                      <a:srgbClr val="FFFF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5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25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25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5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5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500" dirty="0">
                    <a:solidFill>
                      <a:srgbClr val="FFFF00"/>
                    </a:solidFill>
                  </a:rPr>
                  <a:t>into a single </a:t>
                </a:r>
                <a:r>
                  <a:rPr lang="en-US" sz="2500" dirty="0" err="1">
                    <a:solidFill>
                      <a:srgbClr val="FFFF00"/>
                    </a:solidFill>
                  </a:rPr>
                  <a:t>supernode</a:t>
                </a:r>
                <a:r>
                  <a:rPr lang="en-US" sz="2500" dirty="0">
                    <a:solidFill>
                      <a:srgbClr val="FFFF00"/>
                    </a:solidFill>
                  </a:rPr>
                  <a:t> while keeping the remaining structure of tree intact.</a:t>
                </a:r>
              </a:p>
              <a:p>
                <a:pPr marL="457200" indent="-457200" algn="just">
                  <a:spcBef>
                    <a:spcPts val="1800"/>
                  </a:spcBef>
                  <a:buFontTx/>
                  <a:buChar char="-"/>
                </a:pPr>
                <a:r>
                  <a:rPr lang="en-US" sz="2500" dirty="0">
                    <a:solidFill>
                      <a:srgbClr val="FFFF00"/>
                    </a:solidFill>
                  </a:rPr>
                  <a:t> Expand the </a:t>
                </a:r>
                <a:r>
                  <a:rPr lang="en-US" sz="2500" dirty="0" err="1">
                    <a:solidFill>
                      <a:srgbClr val="FFFF00"/>
                    </a:solidFill>
                  </a:rPr>
                  <a:t>supernode</a:t>
                </a:r>
                <a:r>
                  <a:rPr lang="en-US" sz="2500" dirty="0">
                    <a:solidFill>
                      <a:srgbClr val="FFFF00"/>
                    </a:solidFill>
                  </a:rPr>
                  <a:t> by following the static tree construction method.</a:t>
                </a:r>
              </a:p>
              <a:p>
                <a:pPr marL="457200" indent="-457200" algn="just">
                  <a:spcBef>
                    <a:spcPts val="1800"/>
                  </a:spcBef>
                  <a:buFontTx/>
                  <a:buChar char="-"/>
                </a:pPr>
                <a:r>
                  <a:rPr lang="en-US" sz="2500" dirty="0">
                    <a:solidFill>
                      <a:srgbClr val="FFFF00"/>
                    </a:solidFill>
                  </a:rPr>
                  <a:t>Follow Step 2 until all </a:t>
                </a:r>
                <a:r>
                  <a:rPr lang="en-US" sz="2500" dirty="0" err="1">
                    <a:solidFill>
                      <a:srgbClr val="FFFF00"/>
                    </a:solidFill>
                  </a:rPr>
                  <a:t>supernodes</a:t>
                </a:r>
                <a:r>
                  <a:rPr lang="en-US" sz="2500" dirty="0">
                    <a:solidFill>
                      <a:srgbClr val="FFFF00"/>
                    </a:solidFill>
                  </a:rPr>
                  <a:t> are decomposed into single vertices.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FF37ED-543F-C2B6-83F3-75AF6DF81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518" y="2510074"/>
                <a:ext cx="6372791" cy="3862596"/>
              </a:xfrm>
              <a:prstGeom prst="rect">
                <a:avLst/>
              </a:prstGeom>
              <a:blipFill>
                <a:blip r:embed="rId2"/>
                <a:stretch>
                  <a:fillRect l="-1627" t="-1422" r="-1531" b="-28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F411D32-0FAA-7831-3FE7-4CB6013519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579972"/>
              </p:ext>
            </p:extLst>
          </p:nvPr>
        </p:nvGraphicFramePr>
        <p:xfrm>
          <a:off x="1164772" y="1100082"/>
          <a:ext cx="8784769" cy="1316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967">
                  <a:extLst>
                    <a:ext uri="{9D8B030D-6E8A-4147-A177-3AD203B41FA5}">
                      <a16:colId xmlns:a16="http://schemas.microsoft.com/office/drawing/2014/main" val="2102960159"/>
                    </a:ext>
                  </a:extLst>
                </a:gridCol>
                <a:gridCol w="1254967">
                  <a:extLst>
                    <a:ext uri="{9D8B030D-6E8A-4147-A177-3AD203B41FA5}">
                      <a16:colId xmlns:a16="http://schemas.microsoft.com/office/drawing/2014/main" val="3416298355"/>
                    </a:ext>
                  </a:extLst>
                </a:gridCol>
                <a:gridCol w="1254967">
                  <a:extLst>
                    <a:ext uri="{9D8B030D-6E8A-4147-A177-3AD203B41FA5}">
                      <a16:colId xmlns:a16="http://schemas.microsoft.com/office/drawing/2014/main" val="2046666067"/>
                    </a:ext>
                  </a:extLst>
                </a:gridCol>
                <a:gridCol w="1254967">
                  <a:extLst>
                    <a:ext uri="{9D8B030D-6E8A-4147-A177-3AD203B41FA5}">
                      <a16:colId xmlns:a16="http://schemas.microsoft.com/office/drawing/2014/main" val="2285515404"/>
                    </a:ext>
                  </a:extLst>
                </a:gridCol>
                <a:gridCol w="1254967">
                  <a:extLst>
                    <a:ext uri="{9D8B030D-6E8A-4147-A177-3AD203B41FA5}">
                      <a16:colId xmlns:a16="http://schemas.microsoft.com/office/drawing/2014/main" val="2121069744"/>
                    </a:ext>
                  </a:extLst>
                </a:gridCol>
                <a:gridCol w="1254967">
                  <a:extLst>
                    <a:ext uri="{9D8B030D-6E8A-4147-A177-3AD203B41FA5}">
                      <a16:colId xmlns:a16="http://schemas.microsoft.com/office/drawing/2014/main" val="796508518"/>
                    </a:ext>
                  </a:extLst>
                </a:gridCol>
                <a:gridCol w="1254967">
                  <a:extLst>
                    <a:ext uri="{9D8B030D-6E8A-4147-A177-3AD203B41FA5}">
                      <a16:colId xmlns:a16="http://schemas.microsoft.com/office/drawing/2014/main" val="2895279026"/>
                    </a:ext>
                  </a:extLst>
                </a:gridCol>
              </a:tblGrid>
              <a:tr h="438849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795259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319942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fl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174746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A005DC34-AB26-5C74-A344-199A7C09F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91" y="2872935"/>
            <a:ext cx="5206689" cy="3194088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8CC57EC-1F7B-4272-B8D5-8AAA32122FEA}"/>
              </a:ext>
            </a:extLst>
          </p:cNvPr>
          <p:cNvSpPr/>
          <p:nvPr/>
        </p:nvSpPr>
        <p:spPr>
          <a:xfrm>
            <a:off x="1250123" y="3973246"/>
            <a:ext cx="4062823" cy="1784672"/>
          </a:xfrm>
          <a:custGeom>
            <a:avLst/>
            <a:gdLst>
              <a:gd name="connsiteX0" fmla="*/ 3757306 w 4062823"/>
              <a:gd name="connsiteY0" fmla="*/ 1718130 h 1784672"/>
              <a:gd name="connsiteX1" fmla="*/ 4018563 w 4062823"/>
              <a:gd name="connsiteY1" fmla="*/ 1358901 h 1784672"/>
              <a:gd name="connsiteX2" fmla="*/ 2799363 w 4062823"/>
              <a:gd name="connsiteY2" fmla="*/ 117930 h 1784672"/>
              <a:gd name="connsiteX3" fmla="*/ 350077 w 4062823"/>
              <a:gd name="connsiteY3" fmla="*/ 139701 h 1784672"/>
              <a:gd name="connsiteX4" fmla="*/ 252106 w 4062823"/>
              <a:gd name="connsiteY4" fmla="*/ 901701 h 1784672"/>
              <a:gd name="connsiteX5" fmla="*/ 2581648 w 4062823"/>
              <a:gd name="connsiteY5" fmla="*/ 901701 h 1784672"/>
              <a:gd name="connsiteX6" fmla="*/ 3387191 w 4062823"/>
              <a:gd name="connsiteY6" fmla="*/ 1707244 h 1784672"/>
              <a:gd name="connsiteX7" fmla="*/ 3757306 w 4062823"/>
              <a:gd name="connsiteY7" fmla="*/ 1718130 h 1784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2823" h="1784672">
                <a:moveTo>
                  <a:pt x="3757306" y="1718130"/>
                </a:moveTo>
                <a:cubicBezTo>
                  <a:pt x="3862535" y="1660073"/>
                  <a:pt x="4178220" y="1625601"/>
                  <a:pt x="4018563" y="1358901"/>
                </a:cubicBezTo>
                <a:cubicBezTo>
                  <a:pt x="3858906" y="1092201"/>
                  <a:pt x="3410777" y="321130"/>
                  <a:pt x="2799363" y="117930"/>
                </a:cubicBezTo>
                <a:cubicBezTo>
                  <a:pt x="2187949" y="-85270"/>
                  <a:pt x="774620" y="9072"/>
                  <a:pt x="350077" y="139701"/>
                </a:cubicBezTo>
                <a:cubicBezTo>
                  <a:pt x="-74466" y="270329"/>
                  <a:pt x="-119823" y="774701"/>
                  <a:pt x="252106" y="901701"/>
                </a:cubicBezTo>
                <a:cubicBezTo>
                  <a:pt x="624034" y="1028701"/>
                  <a:pt x="2059134" y="767444"/>
                  <a:pt x="2581648" y="901701"/>
                </a:cubicBezTo>
                <a:cubicBezTo>
                  <a:pt x="3104162" y="1035958"/>
                  <a:pt x="3191248" y="1576615"/>
                  <a:pt x="3387191" y="1707244"/>
                </a:cubicBezTo>
                <a:cubicBezTo>
                  <a:pt x="3583134" y="1837873"/>
                  <a:pt x="3652077" y="1776187"/>
                  <a:pt x="3757306" y="1718130"/>
                </a:cubicBezTo>
                <a:close/>
              </a:path>
            </a:pathLst>
          </a:custGeom>
          <a:noFill/>
          <a:ln>
            <a:solidFill>
              <a:srgbClr val="92D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BB36A25-6301-122C-1F8A-126286398FFC}"/>
              </a:ext>
            </a:extLst>
          </p:cNvPr>
          <p:cNvSpPr/>
          <p:nvPr/>
        </p:nvSpPr>
        <p:spPr>
          <a:xfrm>
            <a:off x="1676400" y="4517571"/>
            <a:ext cx="1556657" cy="734051"/>
          </a:xfrm>
          <a:custGeom>
            <a:avLst/>
            <a:gdLst>
              <a:gd name="connsiteX0" fmla="*/ 1556657 w 1556657"/>
              <a:gd name="connsiteY0" fmla="*/ 0 h 734051"/>
              <a:gd name="connsiteX1" fmla="*/ 1143000 w 1556657"/>
              <a:gd name="connsiteY1" fmla="*/ 631372 h 734051"/>
              <a:gd name="connsiteX2" fmla="*/ 457200 w 1556657"/>
              <a:gd name="connsiteY2" fmla="*/ 685800 h 734051"/>
              <a:gd name="connsiteX3" fmla="*/ 0 w 1556657"/>
              <a:gd name="connsiteY3" fmla="*/ 152400 h 734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6657" h="734051">
                <a:moveTo>
                  <a:pt x="1556657" y="0"/>
                </a:moveTo>
                <a:cubicBezTo>
                  <a:pt x="1441450" y="258536"/>
                  <a:pt x="1326243" y="517072"/>
                  <a:pt x="1143000" y="631372"/>
                </a:cubicBezTo>
                <a:cubicBezTo>
                  <a:pt x="959757" y="745672"/>
                  <a:pt x="647700" y="765629"/>
                  <a:pt x="457200" y="685800"/>
                </a:cubicBezTo>
                <a:cubicBezTo>
                  <a:pt x="266700" y="605971"/>
                  <a:pt x="88900" y="292100"/>
                  <a:pt x="0" y="15240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042A8B8-80AD-B4A7-914B-FA40512BB570}"/>
              </a:ext>
            </a:extLst>
          </p:cNvPr>
          <p:cNvSpPr/>
          <p:nvPr/>
        </p:nvSpPr>
        <p:spPr>
          <a:xfrm>
            <a:off x="1698171" y="3502066"/>
            <a:ext cx="2394858" cy="786905"/>
          </a:xfrm>
          <a:custGeom>
            <a:avLst/>
            <a:gdLst>
              <a:gd name="connsiteX0" fmla="*/ 2394858 w 2394858"/>
              <a:gd name="connsiteY0" fmla="*/ 362363 h 786905"/>
              <a:gd name="connsiteX1" fmla="*/ 859972 w 2394858"/>
              <a:gd name="connsiteY1" fmla="*/ 14020 h 786905"/>
              <a:gd name="connsiteX2" fmla="*/ 0 w 2394858"/>
              <a:gd name="connsiteY2" fmla="*/ 786905 h 786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4858" h="786905">
                <a:moveTo>
                  <a:pt x="2394858" y="362363"/>
                </a:moveTo>
                <a:cubicBezTo>
                  <a:pt x="1826986" y="152813"/>
                  <a:pt x="1259115" y="-56737"/>
                  <a:pt x="859972" y="14020"/>
                </a:cubicBezTo>
                <a:cubicBezTo>
                  <a:pt x="460829" y="84777"/>
                  <a:pt x="59872" y="632691"/>
                  <a:pt x="0" y="786905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05B57DC-EC13-F060-DFEA-C2E30A962778}"/>
              </a:ext>
            </a:extLst>
          </p:cNvPr>
          <p:cNvSpPr/>
          <p:nvPr/>
        </p:nvSpPr>
        <p:spPr>
          <a:xfrm>
            <a:off x="1524000" y="4680857"/>
            <a:ext cx="2764971" cy="1026660"/>
          </a:xfrm>
          <a:custGeom>
            <a:avLst/>
            <a:gdLst>
              <a:gd name="connsiteX0" fmla="*/ 2764971 w 2764971"/>
              <a:gd name="connsiteY0" fmla="*/ 228600 h 1026660"/>
              <a:gd name="connsiteX1" fmla="*/ 1687286 w 2764971"/>
              <a:gd name="connsiteY1" fmla="*/ 936172 h 1026660"/>
              <a:gd name="connsiteX2" fmla="*/ 195943 w 2764971"/>
              <a:gd name="connsiteY2" fmla="*/ 914400 h 1026660"/>
              <a:gd name="connsiteX3" fmla="*/ 0 w 2764971"/>
              <a:gd name="connsiteY3" fmla="*/ 0 h 1026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64971" h="1026660">
                <a:moveTo>
                  <a:pt x="2764971" y="228600"/>
                </a:moveTo>
                <a:cubicBezTo>
                  <a:pt x="2440214" y="525236"/>
                  <a:pt x="2115457" y="821872"/>
                  <a:pt x="1687286" y="936172"/>
                </a:cubicBezTo>
                <a:cubicBezTo>
                  <a:pt x="1259115" y="1050472"/>
                  <a:pt x="477157" y="1070429"/>
                  <a:pt x="195943" y="914400"/>
                </a:cubicBezTo>
                <a:cubicBezTo>
                  <a:pt x="-85271" y="758371"/>
                  <a:pt x="41729" y="143329"/>
                  <a:pt x="0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5DF955F-4B9C-65EB-D603-673177746B4D}"/>
              </a:ext>
            </a:extLst>
          </p:cNvPr>
          <p:cNvSpPr/>
          <p:nvPr/>
        </p:nvSpPr>
        <p:spPr>
          <a:xfrm>
            <a:off x="1450536" y="4630456"/>
            <a:ext cx="177851" cy="196886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322DF47-590E-84AB-D929-DFC473E3CEB2}"/>
              </a:ext>
            </a:extLst>
          </p:cNvPr>
          <p:cNvSpPr/>
          <p:nvPr/>
        </p:nvSpPr>
        <p:spPr>
          <a:xfrm rot="19725613">
            <a:off x="1609246" y="4582414"/>
            <a:ext cx="177851" cy="196886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6CB726F-1BC3-9752-D6B2-D9B1007F3883}"/>
              </a:ext>
            </a:extLst>
          </p:cNvPr>
          <p:cNvSpPr/>
          <p:nvPr/>
        </p:nvSpPr>
        <p:spPr>
          <a:xfrm rot="12574158">
            <a:off x="1560998" y="4249680"/>
            <a:ext cx="177851" cy="196886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452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92A99-C47F-DE9E-157A-093C31D35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F8610-AB11-F4B3-F952-B78BAEEA8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771" y="151972"/>
            <a:ext cx="900089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Increase</a:t>
            </a:r>
            <a:endParaRPr lang="en-IN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EDDA83-B246-CB52-8BF9-5721F59BA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68" y="2775857"/>
            <a:ext cx="6086475" cy="373380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B847A45-5CA8-D0ED-0C44-79FCF01909C9}"/>
              </a:ext>
            </a:extLst>
          </p:cNvPr>
          <p:cNvGraphicFramePr>
            <a:graphicFrameLocks noGrp="1"/>
          </p:cNvGraphicFramePr>
          <p:nvPr/>
        </p:nvGraphicFramePr>
        <p:xfrm>
          <a:off x="1164771" y="1021912"/>
          <a:ext cx="8839201" cy="1421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743">
                  <a:extLst>
                    <a:ext uri="{9D8B030D-6E8A-4147-A177-3AD203B41FA5}">
                      <a16:colId xmlns:a16="http://schemas.microsoft.com/office/drawing/2014/main" val="2102960159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3416298355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46666067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285515404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121069744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796508518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895279026"/>
                    </a:ext>
                  </a:extLst>
                </a:gridCol>
              </a:tblGrid>
              <a:tr h="473993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795259"/>
                  </a:ext>
                </a:extLst>
              </a:tr>
              <a:tr h="4739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319942"/>
                  </a:ext>
                </a:extLst>
              </a:tr>
              <a:tr h="473993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fl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17474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C76639F-82B6-9EB7-2E93-785526CA41D3}"/>
              </a:ext>
            </a:extLst>
          </p:cNvPr>
          <p:cNvSpPr txBox="1"/>
          <p:nvPr/>
        </p:nvSpPr>
        <p:spPr>
          <a:xfrm>
            <a:off x="5900057" y="3186106"/>
            <a:ext cx="5316993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s = 3					   t = p[s] = 2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S = {3,4,5}				T = {1,2,6}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min-Cut = 16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Update p, fl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5BA163B-826C-26A1-85E1-7BC8CB142438}"/>
              </a:ext>
            </a:extLst>
          </p:cNvPr>
          <p:cNvSpPr/>
          <p:nvPr/>
        </p:nvSpPr>
        <p:spPr>
          <a:xfrm>
            <a:off x="1501899" y="2871966"/>
            <a:ext cx="3842635" cy="1843729"/>
          </a:xfrm>
          <a:custGeom>
            <a:avLst/>
            <a:gdLst>
              <a:gd name="connsiteX0" fmla="*/ 631701 w 3842635"/>
              <a:gd name="connsiteY0" fmla="*/ 1841548 h 1843729"/>
              <a:gd name="connsiteX1" fmla="*/ 1709387 w 3842635"/>
              <a:gd name="connsiteY1" fmla="*/ 818291 h 1843729"/>
              <a:gd name="connsiteX2" fmla="*/ 3222501 w 3842635"/>
              <a:gd name="connsiteY2" fmla="*/ 1689148 h 1843729"/>
              <a:gd name="connsiteX3" fmla="*/ 3799444 w 3842635"/>
              <a:gd name="connsiteY3" fmla="*/ 1329920 h 1843729"/>
              <a:gd name="connsiteX4" fmla="*/ 2155701 w 3842635"/>
              <a:gd name="connsiteY4" fmla="*/ 1863 h 1843729"/>
              <a:gd name="connsiteX5" fmla="*/ 65644 w 3842635"/>
              <a:gd name="connsiteY5" fmla="*/ 1057777 h 1843729"/>
              <a:gd name="connsiteX6" fmla="*/ 631701 w 3842635"/>
              <a:gd name="connsiteY6" fmla="*/ 1841548 h 1843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42635" h="1843729">
                <a:moveTo>
                  <a:pt x="631701" y="1841548"/>
                </a:moveTo>
                <a:cubicBezTo>
                  <a:pt x="905658" y="1801634"/>
                  <a:pt x="1277587" y="843691"/>
                  <a:pt x="1709387" y="818291"/>
                </a:cubicBezTo>
                <a:cubicBezTo>
                  <a:pt x="2141187" y="792891"/>
                  <a:pt x="2874158" y="1603877"/>
                  <a:pt x="3222501" y="1689148"/>
                </a:cubicBezTo>
                <a:cubicBezTo>
                  <a:pt x="3570844" y="1774419"/>
                  <a:pt x="3977244" y="1611134"/>
                  <a:pt x="3799444" y="1329920"/>
                </a:cubicBezTo>
                <a:cubicBezTo>
                  <a:pt x="3621644" y="1048706"/>
                  <a:pt x="2778001" y="47220"/>
                  <a:pt x="2155701" y="1863"/>
                </a:cubicBezTo>
                <a:cubicBezTo>
                  <a:pt x="1533401" y="-43494"/>
                  <a:pt x="319644" y="751163"/>
                  <a:pt x="65644" y="1057777"/>
                </a:cubicBezTo>
                <a:cubicBezTo>
                  <a:pt x="-188356" y="1364391"/>
                  <a:pt x="357744" y="1881462"/>
                  <a:pt x="631701" y="1841548"/>
                </a:cubicBezTo>
                <a:close/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7028D76-8862-DE08-C9DF-8A3E79D366E4}"/>
              </a:ext>
            </a:extLst>
          </p:cNvPr>
          <p:cNvSpPr/>
          <p:nvPr/>
        </p:nvSpPr>
        <p:spPr>
          <a:xfrm>
            <a:off x="1715710" y="4245429"/>
            <a:ext cx="3430820" cy="2076153"/>
          </a:xfrm>
          <a:custGeom>
            <a:avLst/>
            <a:gdLst>
              <a:gd name="connsiteX0" fmla="*/ 178404 w 3430820"/>
              <a:gd name="connsiteY0" fmla="*/ 1491342 h 2076153"/>
              <a:gd name="connsiteX1" fmla="*/ 1560890 w 3430820"/>
              <a:gd name="connsiteY1" fmla="*/ 0 h 2076153"/>
              <a:gd name="connsiteX2" fmla="*/ 3313490 w 3430820"/>
              <a:gd name="connsiteY2" fmla="*/ 1491342 h 2076153"/>
              <a:gd name="connsiteX3" fmla="*/ 2943376 w 3430820"/>
              <a:gd name="connsiteY3" fmla="*/ 2002971 h 2076153"/>
              <a:gd name="connsiteX4" fmla="*/ 319919 w 3430820"/>
              <a:gd name="connsiteY4" fmla="*/ 2013857 h 2076153"/>
              <a:gd name="connsiteX5" fmla="*/ 178404 w 3430820"/>
              <a:gd name="connsiteY5" fmla="*/ 1491342 h 2076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30820" h="2076153">
                <a:moveTo>
                  <a:pt x="178404" y="1491342"/>
                </a:moveTo>
                <a:cubicBezTo>
                  <a:pt x="385232" y="1155699"/>
                  <a:pt x="1038376" y="0"/>
                  <a:pt x="1560890" y="0"/>
                </a:cubicBezTo>
                <a:cubicBezTo>
                  <a:pt x="2083404" y="0"/>
                  <a:pt x="3083076" y="1157513"/>
                  <a:pt x="3313490" y="1491342"/>
                </a:cubicBezTo>
                <a:cubicBezTo>
                  <a:pt x="3543904" y="1825171"/>
                  <a:pt x="3442304" y="1915885"/>
                  <a:pt x="2943376" y="2002971"/>
                </a:cubicBezTo>
                <a:cubicBezTo>
                  <a:pt x="2444448" y="2090057"/>
                  <a:pt x="777119" y="2106385"/>
                  <a:pt x="319919" y="2013857"/>
                </a:cubicBezTo>
                <a:cubicBezTo>
                  <a:pt x="-137281" y="1921329"/>
                  <a:pt x="-28424" y="1826985"/>
                  <a:pt x="178404" y="1491342"/>
                </a:cubicBezTo>
                <a:close/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08FD22B-8D89-1488-907A-4D0E0C1CB6AD}"/>
              </a:ext>
            </a:extLst>
          </p:cNvPr>
          <p:cNvSpPr/>
          <p:nvPr/>
        </p:nvSpPr>
        <p:spPr>
          <a:xfrm>
            <a:off x="2964566" y="2807343"/>
            <a:ext cx="2380734" cy="1796498"/>
          </a:xfrm>
          <a:custGeom>
            <a:avLst/>
            <a:gdLst>
              <a:gd name="connsiteX0" fmla="*/ 83434 w 2380734"/>
              <a:gd name="connsiteY0" fmla="*/ 730514 h 1796498"/>
              <a:gd name="connsiteX1" fmla="*/ 1520348 w 2380734"/>
              <a:gd name="connsiteY1" fmla="*/ 1775543 h 1796498"/>
              <a:gd name="connsiteX2" fmla="*/ 2347663 w 2380734"/>
              <a:gd name="connsiteY2" fmla="*/ 1318343 h 1796498"/>
              <a:gd name="connsiteX3" fmla="*/ 410005 w 2380734"/>
              <a:gd name="connsiteY3" fmla="*/ 12057 h 1796498"/>
              <a:gd name="connsiteX4" fmla="*/ 83434 w 2380734"/>
              <a:gd name="connsiteY4" fmla="*/ 730514 h 1796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0734" h="1796498">
                <a:moveTo>
                  <a:pt x="83434" y="730514"/>
                </a:moveTo>
                <a:cubicBezTo>
                  <a:pt x="268491" y="1024428"/>
                  <a:pt x="1142977" y="1677572"/>
                  <a:pt x="1520348" y="1775543"/>
                </a:cubicBezTo>
                <a:cubicBezTo>
                  <a:pt x="1897719" y="1873514"/>
                  <a:pt x="2532720" y="1612257"/>
                  <a:pt x="2347663" y="1318343"/>
                </a:cubicBezTo>
                <a:cubicBezTo>
                  <a:pt x="2162606" y="1024429"/>
                  <a:pt x="792819" y="110028"/>
                  <a:pt x="410005" y="12057"/>
                </a:cubicBezTo>
                <a:cubicBezTo>
                  <a:pt x="27191" y="-85914"/>
                  <a:pt x="-101623" y="436600"/>
                  <a:pt x="83434" y="730514"/>
                </a:cubicBezTo>
                <a:close/>
              </a:path>
            </a:pathLst>
          </a:custGeom>
          <a:noFill/>
          <a:ln>
            <a:solidFill>
              <a:srgbClr val="92D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E5886-F587-1779-B6F5-922F950D3973}"/>
              </a:ext>
            </a:extLst>
          </p:cNvPr>
          <p:cNvSpPr/>
          <p:nvPr/>
        </p:nvSpPr>
        <p:spPr>
          <a:xfrm>
            <a:off x="1978709" y="4308401"/>
            <a:ext cx="1852693" cy="1845653"/>
          </a:xfrm>
          <a:custGeom>
            <a:avLst/>
            <a:gdLst>
              <a:gd name="connsiteX0" fmla="*/ 503234 w 1852693"/>
              <a:gd name="connsiteY0" fmla="*/ 1798485 h 1845653"/>
              <a:gd name="connsiteX1" fmla="*/ 1820405 w 1852693"/>
              <a:gd name="connsiteY1" fmla="*/ 535742 h 1845653"/>
              <a:gd name="connsiteX2" fmla="*/ 1330548 w 1852693"/>
              <a:gd name="connsiteY2" fmla="*/ 34999 h 1845653"/>
              <a:gd name="connsiteX3" fmla="*/ 35148 w 1852693"/>
              <a:gd name="connsiteY3" fmla="*/ 1428370 h 1845653"/>
              <a:gd name="connsiteX4" fmla="*/ 503234 w 1852693"/>
              <a:gd name="connsiteY4" fmla="*/ 1798485 h 184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2693" h="1845653">
                <a:moveTo>
                  <a:pt x="503234" y="1798485"/>
                </a:moveTo>
                <a:cubicBezTo>
                  <a:pt x="800777" y="1649714"/>
                  <a:pt x="1682519" y="829656"/>
                  <a:pt x="1820405" y="535742"/>
                </a:cubicBezTo>
                <a:cubicBezTo>
                  <a:pt x="1958291" y="241828"/>
                  <a:pt x="1628091" y="-113772"/>
                  <a:pt x="1330548" y="34999"/>
                </a:cubicBezTo>
                <a:cubicBezTo>
                  <a:pt x="1033005" y="183770"/>
                  <a:pt x="176662" y="1134456"/>
                  <a:pt x="35148" y="1428370"/>
                </a:cubicBezTo>
                <a:cubicBezTo>
                  <a:pt x="-106366" y="1722284"/>
                  <a:pt x="205691" y="1947256"/>
                  <a:pt x="503234" y="1798485"/>
                </a:cubicBezTo>
                <a:close/>
              </a:path>
            </a:pathLst>
          </a:custGeom>
          <a:noFill/>
          <a:ln>
            <a:solidFill>
              <a:srgbClr val="00B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BC3FED3-2F41-4AF0-D524-04A722661DB6}"/>
              </a:ext>
            </a:extLst>
          </p:cNvPr>
          <p:cNvSpPr/>
          <p:nvPr/>
        </p:nvSpPr>
        <p:spPr>
          <a:xfrm>
            <a:off x="2625865" y="3298371"/>
            <a:ext cx="411249" cy="903515"/>
          </a:xfrm>
          <a:custGeom>
            <a:avLst/>
            <a:gdLst>
              <a:gd name="connsiteX0" fmla="*/ 95564 w 411249"/>
              <a:gd name="connsiteY0" fmla="*/ 903515 h 903515"/>
              <a:gd name="connsiteX1" fmla="*/ 19364 w 411249"/>
              <a:gd name="connsiteY1" fmla="*/ 283029 h 903515"/>
              <a:gd name="connsiteX2" fmla="*/ 411249 w 411249"/>
              <a:gd name="connsiteY2" fmla="*/ 0 h 903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1249" h="903515">
                <a:moveTo>
                  <a:pt x="95564" y="903515"/>
                </a:moveTo>
                <a:cubicBezTo>
                  <a:pt x="31157" y="668565"/>
                  <a:pt x="-33250" y="433615"/>
                  <a:pt x="19364" y="283029"/>
                </a:cubicBezTo>
                <a:cubicBezTo>
                  <a:pt x="71978" y="132443"/>
                  <a:pt x="333235" y="72571"/>
                  <a:pt x="411249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13839BB-4546-E3B2-337F-82BE89DDD39C}"/>
              </a:ext>
            </a:extLst>
          </p:cNvPr>
          <p:cNvSpPr/>
          <p:nvPr/>
        </p:nvSpPr>
        <p:spPr>
          <a:xfrm>
            <a:off x="3505200" y="3276600"/>
            <a:ext cx="685800" cy="1077686"/>
          </a:xfrm>
          <a:custGeom>
            <a:avLst/>
            <a:gdLst>
              <a:gd name="connsiteX0" fmla="*/ 685800 w 685800"/>
              <a:gd name="connsiteY0" fmla="*/ 1077686 h 1077686"/>
              <a:gd name="connsiteX1" fmla="*/ 544286 w 685800"/>
              <a:gd name="connsiteY1" fmla="*/ 293914 h 1077686"/>
              <a:gd name="connsiteX2" fmla="*/ 0 w 685800"/>
              <a:gd name="connsiteY2" fmla="*/ 0 h 1077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5800" h="1077686">
                <a:moveTo>
                  <a:pt x="685800" y="1077686"/>
                </a:moveTo>
                <a:cubicBezTo>
                  <a:pt x="672193" y="775607"/>
                  <a:pt x="658586" y="473528"/>
                  <a:pt x="544286" y="293914"/>
                </a:cubicBezTo>
                <a:cubicBezTo>
                  <a:pt x="429986" y="114300"/>
                  <a:pt x="114300" y="92528"/>
                  <a:pt x="0" y="0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746595D-F002-3C42-EBE6-E074E98BA2B5}"/>
              </a:ext>
            </a:extLst>
          </p:cNvPr>
          <p:cNvSpPr/>
          <p:nvPr/>
        </p:nvSpPr>
        <p:spPr>
          <a:xfrm rot="3957803">
            <a:off x="2913382" y="3237815"/>
            <a:ext cx="177851" cy="196886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D8158BB1-0655-AD99-CF05-679C250C3C6A}"/>
              </a:ext>
            </a:extLst>
          </p:cNvPr>
          <p:cNvSpPr/>
          <p:nvPr/>
        </p:nvSpPr>
        <p:spPr>
          <a:xfrm rot="17687245">
            <a:off x="3413545" y="3209669"/>
            <a:ext cx="177851" cy="196886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944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2F0E9-B543-2300-5ED0-9C1A1965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DB981-5AF9-3D07-059D-892526575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771" y="151972"/>
            <a:ext cx="900089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Increase</a:t>
            </a:r>
            <a:endParaRPr lang="en-IN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A4D127E-469F-10D5-AC78-FD2C21E64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918326"/>
              </p:ext>
            </p:extLst>
          </p:nvPr>
        </p:nvGraphicFramePr>
        <p:xfrm>
          <a:off x="1164771" y="1021912"/>
          <a:ext cx="8839201" cy="1421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743">
                  <a:extLst>
                    <a:ext uri="{9D8B030D-6E8A-4147-A177-3AD203B41FA5}">
                      <a16:colId xmlns:a16="http://schemas.microsoft.com/office/drawing/2014/main" val="2102960159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3416298355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46666067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285515404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121069744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796508518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895279026"/>
                    </a:ext>
                  </a:extLst>
                </a:gridCol>
              </a:tblGrid>
              <a:tr h="473993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795259"/>
                  </a:ext>
                </a:extLst>
              </a:tr>
              <a:tr h="4739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319942"/>
                  </a:ext>
                </a:extLst>
              </a:tr>
              <a:tr h="473993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fl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17474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B4F4B0D-DA24-4525-62AD-4B36D43E9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72" y="2658595"/>
            <a:ext cx="6086475" cy="3733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438542-7A2A-8A2A-3411-A8AF6BCC1D9D}"/>
              </a:ext>
            </a:extLst>
          </p:cNvPr>
          <p:cNvSpPr txBox="1"/>
          <p:nvPr/>
        </p:nvSpPr>
        <p:spPr>
          <a:xfrm>
            <a:off x="6204878" y="3221476"/>
            <a:ext cx="5316993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s = 5					   t = p[s] = 3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S = {5}				T = {1,2,3,4,6}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min-Cut = 16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Update p, fl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3222F97-E07D-4D1C-254F-2AB06BBA6188}"/>
              </a:ext>
            </a:extLst>
          </p:cNvPr>
          <p:cNvSpPr/>
          <p:nvPr/>
        </p:nvSpPr>
        <p:spPr>
          <a:xfrm>
            <a:off x="4996342" y="5181003"/>
            <a:ext cx="860284" cy="947958"/>
          </a:xfrm>
          <a:custGeom>
            <a:avLst/>
            <a:gdLst>
              <a:gd name="connsiteX0" fmla="*/ 201 w 860284"/>
              <a:gd name="connsiteY0" fmla="*/ 414254 h 947958"/>
              <a:gd name="connsiteX1" fmla="*/ 326772 w 860284"/>
              <a:gd name="connsiteY1" fmla="*/ 597 h 947958"/>
              <a:gd name="connsiteX2" fmla="*/ 860172 w 860284"/>
              <a:gd name="connsiteY2" fmla="*/ 338054 h 947958"/>
              <a:gd name="connsiteX3" fmla="*/ 370315 w 860284"/>
              <a:gd name="connsiteY3" fmla="*/ 947654 h 947958"/>
              <a:gd name="connsiteX4" fmla="*/ 201 w 860284"/>
              <a:gd name="connsiteY4" fmla="*/ 414254 h 94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0284" h="947958">
                <a:moveTo>
                  <a:pt x="201" y="414254"/>
                </a:moveTo>
                <a:cubicBezTo>
                  <a:pt x="-7056" y="256411"/>
                  <a:pt x="183444" y="13297"/>
                  <a:pt x="326772" y="597"/>
                </a:cubicBezTo>
                <a:cubicBezTo>
                  <a:pt x="470101" y="-12103"/>
                  <a:pt x="852915" y="180211"/>
                  <a:pt x="860172" y="338054"/>
                </a:cubicBezTo>
                <a:cubicBezTo>
                  <a:pt x="867429" y="495897"/>
                  <a:pt x="520901" y="934954"/>
                  <a:pt x="370315" y="947654"/>
                </a:cubicBezTo>
                <a:cubicBezTo>
                  <a:pt x="219729" y="960354"/>
                  <a:pt x="7458" y="572097"/>
                  <a:pt x="201" y="414254"/>
                </a:cubicBezTo>
                <a:close/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4F10F9C-34BE-EDFD-D267-39FA490BCC31}"/>
              </a:ext>
            </a:extLst>
          </p:cNvPr>
          <p:cNvSpPr/>
          <p:nvPr/>
        </p:nvSpPr>
        <p:spPr>
          <a:xfrm>
            <a:off x="1211035" y="2610605"/>
            <a:ext cx="4884362" cy="3796511"/>
          </a:xfrm>
          <a:custGeom>
            <a:avLst/>
            <a:gdLst>
              <a:gd name="connsiteX0" fmla="*/ 879022 w 4884362"/>
              <a:gd name="connsiteY0" fmla="*/ 3539824 h 3796511"/>
              <a:gd name="connsiteX1" fmla="*/ 1924051 w 4884362"/>
              <a:gd name="connsiteY1" fmla="*/ 2298852 h 3796511"/>
              <a:gd name="connsiteX2" fmla="*/ 3687536 w 4884362"/>
              <a:gd name="connsiteY2" fmla="*/ 2233538 h 3796511"/>
              <a:gd name="connsiteX3" fmla="*/ 4743451 w 4884362"/>
              <a:gd name="connsiteY3" fmla="*/ 568024 h 3796511"/>
              <a:gd name="connsiteX4" fmla="*/ 487136 w 4884362"/>
              <a:gd name="connsiteY4" fmla="*/ 197909 h 3796511"/>
              <a:gd name="connsiteX5" fmla="*/ 138794 w 4884362"/>
              <a:gd name="connsiteY5" fmla="*/ 3474509 h 3796511"/>
              <a:gd name="connsiteX6" fmla="*/ 879022 w 4884362"/>
              <a:gd name="connsiteY6" fmla="*/ 3539824 h 3796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84362" h="3796511">
                <a:moveTo>
                  <a:pt x="879022" y="3539824"/>
                </a:moveTo>
                <a:cubicBezTo>
                  <a:pt x="1176565" y="3343881"/>
                  <a:pt x="1455965" y="2516566"/>
                  <a:pt x="1924051" y="2298852"/>
                </a:cubicBezTo>
                <a:cubicBezTo>
                  <a:pt x="2392137" y="2081138"/>
                  <a:pt x="3217636" y="2522009"/>
                  <a:pt x="3687536" y="2233538"/>
                </a:cubicBezTo>
                <a:cubicBezTo>
                  <a:pt x="4157436" y="1945067"/>
                  <a:pt x="5276851" y="907295"/>
                  <a:pt x="4743451" y="568024"/>
                </a:cubicBezTo>
                <a:cubicBezTo>
                  <a:pt x="4210051" y="228753"/>
                  <a:pt x="1254579" y="-286505"/>
                  <a:pt x="487136" y="197909"/>
                </a:cubicBezTo>
                <a:cubicBezTo>
                  <a:pt x="-280307" y="682323"/>
                  <a:pt x="71665" y="2915709"/>
                  <a:pt x="138794" y="3474509"/>
                </a:cubicBezTo>
                <a:cubicBezTo>
                  <a:pt x="205923" y="4033309"/>
                  <a:pt x="581479" y="3735767"/>
                  <a:pt x="879022" y="3539824"/>
                </a:cubicBezTo>
                <a:close/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DE7994-1065-2BEA-334F-7E6314EBD1D2}"/>
              </a:ext>
            </a:extLst>
          </p:cNvPr>
          <p:cNvSpPr/>
          <p:nvPr/>
        </p:nvSpPr>
        <p:spPr>
          <a:xfrm>
            <a:off x="1489817" y="2889042"/>
            <a:ext cx="1868522" cy="1931510"/>
          </a:xfrm>
          <a:custGeom>
            <a:avLst/>
            <a:gdLst>
              <a:gd name="connsiteX0" fmla="*/ 12412 w 1868522"/>
              <a:gd name="connsiteY0" fmla="*/ 354901 h 1931510"/>
              <a:gd name="connsiteX1" fmla="*/ 1035669 w 1868522"/>
              <a:gd name="connsiteY1" fmla="*/ 1802701 h 1931510"/>
              <a:gd name="connsiteX2" fmla="*/ 1775897 w 1868522"/>
              <a:gd name="connsiteY2" fmla="*/ 1802701 h 1931510"/>
              <a:gd name="connsiteX3" fmla="*/ 1721469 w 1868522"/>
              <a:gd name="connsiteY3" fmla="*/ 1291072 h 1931510"/>
              <a:gd name="connsiteX4" fmla="*/ 545812 w 1868522"/>
              <a:gd name="connsiteY4" fmla="*/ 60987 h 1931510"/>
              <a:gd name="connsiteX5" fmla="*/ 12412 w 1868522"/>
              <a:gd name="connsiteY5" fmla="*/ 354901 h 193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8522" h="1931510">
                <a:moveTo>
                  <a:pt x="12412" y="354901"/>
                </a:moveTo>
                <a:cubicBezTo>
                  <a:pt x="94055" y="645187"/>
                  <a:pt x="741755" y="1561401"/>
                  <a:pt x="1035669" y="1802701"/>
                </a:cubicBezTo>
                <a:cubicBezTo>
                  <a:pt x="1329583" y="2044001"/>
                  <a:pt x="1661597" y="1887972"/>
                  <a:pt x="1775897" y="1802701"/>
                </a:cubicBezTo>
                <a:cubicBezTo>
                  <a:pt x="1890197" y="1717430"/>
                  <a:pt x="1926483" y="1581358"/>
                  <a:pt x="1721469" y="1291072"/>
                </a:cubicBezTo>
                <a:cubicBezTo>
                  <a:pt x="1516455" y="1000786"/>
                  <a:pt x="823398" y="217015"/>
                  <a:pt x="545812" y="60987"/>
                </a:cubicBezTo>
                <a:cubicBezTo>
                  <a:pt x="268226" y="-95041"/>
                  <a:pt x="-69231" y="64615"/>
                  <a:pt x="12412" y="354901"/>
                </a:cubicBezTo>
                <a:close/>
              </a:path>
            </a:pathLst>
          </a:custGeom>
          <a:noFill/>
          <a:ln>
            <a:solidFill>
              <a:srgbClr val="92D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541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2476D-9678-A154-EE91-82F1BD65C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CF666-D638-06CA-0032-97249B603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771" y="151972"/>
            <a:ext cx="900089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Increase</a:t>
            </a:r>
            <a:endParaRPr lang="en-IN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6DE2F36-FE26-D9D1-17BC-EF335F6DD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445561"/>
              </p:ext>
            </p:extLst>
          </p:nvPr>
        </p:nvGraphicFramePr>
        <p:xfrm>
          <a:off x="1164771" y="1021912"/>
          <a:ext cx="8839201" cy="1421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743">
                  <a:extLst>
                    <a:ext uri="{9D8B030D-6E8A-4147-A177-3AD203B41FA5}">
                      <a16:colId xmlns:a16="http://schemas.microsoft.com/office/drawing/2014/main" val="2102960159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3416298355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46666067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285515404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121069744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796508518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895279026"/>
                    </a:ext>
                  </a:extLst>
                </a:gridCol>
              </a:tblGrid>
              <a:tr h="473993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795259"/>
                  </a:ext>
                </a:extLst>
              </a:tr>
              <a:tr h="4739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319942"/>
                  </a:ext>
                </a:extLst>
              </a:tr>
              <a:tr h="473993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fl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174746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D00800DD-64FE-924E-CB51-9FE4E94C3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81" y="2672725"/>
            <a:ext cx="6086475" cy="37338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7976C22-6B0F-CCC8-7E8F-876813F3E7B5}"/>
              </a:ext>
            </a:extLst>
          </p:cNvPr>
          <p:cNvSpPr txBox="1"/>
          <p:nvPr/>
        </p:nvSpPr>
        <p:spPr>
          <a:xfrm>
            <a:off x="6008914" y="3450820"/>
            <a:ext cx="5316993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s = 6					   t = p[s] = 2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S = {6}				T = {1,2,3,4,5}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min-Cut = 18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Update p, </a:t>
            </a:r>
            <a:r>
              <a:rPr lang="en-US" sz="2600" dirty="0" err="1">
                <a:solidFill>
                  <a:srgbClr val="FFFF00"/>
                </a:solidFill>
              </a:rPr>
              <a:t>fl</a:t>
            </a:r>
            <a:endParaRPr lang="en-US" sz="2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D354D01-E933-E845-203D-ADE68156F46C}"/>
              </a:ext>
            </a:extLst>
          </p:cNvPr>
          <p:cNvSpPr/>
          <p:nvPr/>
        </p:nvSpPr>
        <p:spPr>
          <a:xfrm>
            <a:off x="1255260" y="2923447"/>
            <a:ext cx="1137903" cy="954256"/>
          </a:xfrm>
          <a:custGeom>
            <a:avLst/>
            <a:gdLst>
              <a:gd name="connsiteX0" fmla="*/ 18369 w 1137903"/>
              <a:gd name="connsiteY0" fmla="*/ 320496 h 954256"/>
              <a:gd name="connsiteX1" fmla="*/ 268740 w 1137903"/>
              <a:gd name="connsiteY1" fmla="*/ 951867 h 954256"/>
              <a:gd name="connsiteX2" fmla="*/ 1128711 w 1137903"/>
              <a:gd name="connsiteY2" fmla="*/ 516439 h 954256"/>
              <a:gd name="connsiteX3" fmla="*/ 682397 w 1137903"/>
              <a:gd name="connsiteY3" fmla="*/ 4810 h 954256"/>
              <a:gd name="connsiteX4" fmla="*/ 18369 w 1137903"/>
              <a:gd name="connsiteY4" fmla="*/ 320496 h 95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7903" h="954256">
                <a:moveTo>
                  <a:pt x="18369" y="320496"/>
                </a:moveTo>
                <a:cubicBezTo>
                  <a:pt x="-50574" y="478339"/>
                  <a:pt x="83683" y="919210"/>
                  <a:pt x="268740" y="951867"/>
                </a:cubicBezTo>
                <a:cubicBezTo>
                  <a:pt x="453797" y="984524"/>
                  <a:pt x="1059768" y="674282"/>
                  <a:pt x="1128711" y="516439"/>
                </a:cubicBezTo>
                <a:cubicBezTo>
                  <a:pt x="1197654" y="358596"/>
                  <a:pt x="862011" y="42910"/>
                  <a:pt x="682397" y="4810"/>
                </a:cubicBezTo>
                <a:cubicBezTo>
                  <a:pt x="502783" y="-33290"/>
                  <a:pt x="87312" y="162653"/>
                  <a:pt x="18369" y="320496"/>
                </a:cubicBezTo>
                <a:close/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65D23B0-B041-E9E9-384A-4DBE9925581B}"/>
              </a:ext>
            </a:extLst>
          </p:cNvPr>
          <p:cNvSpPr/>
          <p:nvPr/>
        </p:nvSpPr>
        <p:spPr>
          <a:xfrm>
            <a:off x="1264346" y="2732943"/>
            <a:ext cx="4763858" cy="3663684"/>
          </a:xfrm>
          <a:custGeom>
            <a:avLst/>
            <a:gdLst>
              <a:gd name="connsiteX0" fmla="*/ 3960797 w 4763858"/>
              <a:gd name="connsiteY0" fmla="*/ 217086 h 3663684"/>
              <a:gd name="connsiteX1" fmla="*/ 2970197 w 4763858"/>
              <a:gd name="connsiteY1" fmla="*/ 1392743 h 3663684"/>
              <a:gd name="connsiteX2" fmla="*/ 1424425 w 4763858"/>
              <a:gd name="connsiteY2" fmla="*/ 1370971 h 3663684"/>
              <a:gd name="connsiteX3" fmla="*/ 129025 w 4763858"/>
              <a:gd name="connsiteY3" fmla="*/ 2916743 h 3663684"/>
              <a:gd name="connsiteX4" fmla="*/ 531797 w 4763858"/>
              <a:gd name="connsiteY4" fmla="*/ 3515457 h 3663684"/>
              <a:gd name="connsiteX5" fmla="*/ 4417997 w 4763858"/>
              <a:gd name="connsiteY5" fmla="*/ 3352171 h 3663684"/>
              <a:gd name="connsiteX6" fmla="*/ 4526854 w 4763858"/>
              <a:gd name="connsiteY6" fmla="*/ 315057 h 3663684"/>
              <a:gd name="connsiteX7" fmla="*/ 3960797 w 4763858"/>
              <a:gd name="connsiteY7" fmla="*/ 217086 h 3663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63858" h="3663684">
                <a:moveTo>
                  <a:pt x="3960797" y="217086"/>
                </a:moveTo>
                <a:cubicBezTo>
                  <a:pt x="3701354" y="396700"/>
                  <a:pt x="3392926" y="1200429"/>
                  <a:pt x="2970197" y="1392743"/>
                </a:cubicBezTo>
                <a:cubicBezTo>
                  <a:pt x="2547468" y="1585057"/>
                  <a:pt x="1897954" y="1116971"/>
                  <a:pt x="1424425" y="1370971"/>
                </a:cubicBezTo>
                <a:cubicBezTo>
                  <a:pt x="950896" y="1624971"/>
                  <a:pt x="277796" y="2559329"/>
                  <a:pt x="129025" y="2916743"/>
                </a:cubicBezTo>
                <a:cubicBezTo>
                  <a:pt x="-19746" y="3274157"/>
                  <a:pt x="-183032" y="3442886"/>
                  <a:pt x="531797" y="3515457"/>
                </a:cubicBezTo>
                <a:cubicBezTo>
                  <a:pt x="1246626" y="3588028"/>
                  <a:pt x="3752154" y="3885571"/>
                  <a:pt x="4417997" y="3352171"/>
                </a:cubicBezTo>
                <a:cubicBezTo>
                  <a:pt x="5083840" y="2818771"/>
                  <a:pt x="4595797" y="837571"/>
                  <a:pt x="4526854" y="315057"/>
                </a:cubicBezTo>
                <a:cubicBezTo>
                  <a:pt x="4457911" y="-207457"/>
                  <a:pt x="4220240" y="37472"/>
                  <a:pt x="3960797" y="217086"/>
                </a:cubicBezTo>
                <a:close/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791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00E2A-42CC-A380-6BEF-E28F58FD2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B885E-42B4-02C9-3AA4-C22BDF768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771" y="151972"/>
            <a:ext cx="900089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Increase</a:t>
            </a:r>
            <a:endParaRPr lang="en-IN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681F387-A783-5B8E-B34B-B70421287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106864"/>
              </p:ext>
            </p:extLst>
          </p:nvPr>
        </p:nvGraphicFramePr>
        <p:xfrm>
          <a:off x="1164771" y="1021912"/>
          <a:ext cx="8839201" cy="1421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743">
                  <a:extLst>
                    <a:ext uri="{9D8B030D-6E8A-4147-A177-3AD203B41FA5}">
                      <a16:colId xmlns:a16="http://schemas.microsoft.com/office/drawing/2014/main" val="2102960159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3416298355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46666067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285515404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121069744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796508518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895279026"/>
                    </a:ext>
                  </a:extLst>
                </a:gridCol>
              </a:tblGrid>
              <a:tr h="473993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795259"/>
                  </a:ext>
                </a:extLst>
              </a:tr>
              <a:tr h="4739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319942"/>
                  </a:ext>
                </a:extLst>
              </a:tr>
              <a:tr h="473993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fl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17474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74F27BD-B900-8916-2D81-DF7FEF4BD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76" y="2679945"/>
            <a:ext cx="6086475" cy="3733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C3A686-29FB-623E-0984-820E0A6CB7C7}"/>
              </a:ext>
            </a:extLst>
          </p:cNvPr>
          <p:cNvSpPr txBox="1"/>
          <p:nvPr/>
        </p:nvSpPr>
        <p:spPr>
          <a:xfrm>
            <a:off x="5998028" y="4166321"/>
            <a:ext cx="53169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sz="2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Terminate</a:t>
            </a:r>
          </a:p>
        </p:txBody>
      </p:sp>
    </p:spTree>
    <p:extLst>
      <p:ext uri="{BB962C8B-B14F-4D97-AF65-F5344CB8AC3E}">
        <p14:creationId xmlns:p14="http://schemas.microsoft.com/office/powerpoint/2010/main" val="1541909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FCDFC-09BD-6750-8924-27D77DCCA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6C22-1873-9852-37E9-A10C48F1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771" y="151972"/>
            <a:ext cx="900089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Decrease </a:t>
            </a:r>
            <a:r>
              <a:rPr 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(5,6) by 2 </a:t>
            </a:r>
            <a:endParaRPr lang="en-IN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F66F93-3D07-D217-7B35-AAF0987D5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358" y="1170260"/>
            <a:ext cx="7075077" cy="52196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EFF7C2-2A43-7A47-1185-0388331CAA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65" y="2078998"/>
            <a:ext cx="5013552" cy="307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28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83B6-982D-FE14-6D79-72DF80C68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5533B72-813F-05E1-DBF9-A9ECECD5321D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1164771" y="151972"/>
                <a:ext cx="9000898" cy="805543"/>
              </a:xfrm>
            </p:spPr>
            <p:txBody>
              <a:bodyPr/>
              <a:lstStyle/>
              <a:p>
                <a:pPr algn="ctr"/>
                <a:r>
                  <a:rPr lang="en-US" sz="4400" b="1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Decrease </a:t>
                </a:r>
                <a:r>
                  <a:rPr lang="en-US" sz="4000" b="1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(5,6) by </a:t>
                </a:r>
                <a14:m>
                  <m:oMath xmlns:m="http://schemas.openxmlformats.org/officeDocument/2006/math">
                    <m:r>
                      <a:rPr lang="en-US" sz="4000" b="1" i="1" dirty="0" smtClean="0"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∆=</m:t>
                    </m:r>
                    <m:r>
                      <a:rPr lang="en-US" sz="4000" b="1" i="1" dirty="0" smtClean="0"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4000" b="1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endParaRPr lang="en-IN" sz="4000" b="1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5533B72-813F-05E1-DBF9-A9ECECD532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1164771" y="151972"/>
                <a:ext cx="9000898" cy="805543"/>
              </a:xfrm>
              <a:blipFill>
                <a:blip r:embed="rId2"/>
                <a:stretch>
                  <a:fillRect t="-11364" b="-424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63DAAD-7B49-33BF-280B-0F7D24C7F1C5}"/>
                  </a:ext>
                </a:extLst>
              </p:cNvPr>
              <p:cNvSpPr txBox="1"/>
              <p:nvPr/>
            </p:nvSpPr>
            <p:spPr>
              <a:xfrm>
                <a:off x="6553199" y="2767280"/>
                <a:ext cx="513600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800"/>
                  </a:spcBef>
                </a:pPr>
                <a:r>
                  <a:rPr lang="en-US" sz="2600" dirty="0">
                    <a:solidFill>
                      <a:srgbClr val="FFFF00"/>
                    </a:solidFill>
                  </a:rPr>
                  <a:t>Decrease capacity of all edges on the path from 5 to 6 by 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∆=</m:t>
                    </m:r>
                    <m:r>
                      <a:rPr lang="en-US" sz="2800" b="1" i="1" dirty="0"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800" b="1" dirty="0">
                    <a:solidFill>
                      <a:srgbClr val="FFC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endParaRPr lang="en-US" sz="26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63DAAD-7B49-33BF-280B-0F7D24C7F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199" y="2767280"/>
                <a:ext cx="5136003" cy="1323439"/>
              </a:xfrm>
              <a:prstGeom prst="rect">
                <a:avLst/>
              </a:prstGeom>
              <a:blipFill>
                <a:blip r:embed="rId3"/>
                <a:stretch>
                  <a:fillRect l="-474" t="-4147" r="-2135" b="-101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5CBCC84-0C63-E33A-EB02-C5FFD4D5CE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84" y="1920895"/>
            <a:ext cx="5429916" cy="3331028"/>
          </a:xfrm>
          <a:prstGeom prst="rec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C9A4D3-6346-5B70-0917-48B34EE84670}"/>
              </a:ext>
            </a:extLst>
          </p:cNvPr>
          <p:cNvCxnSpPr>
            <a:cxnSpLocks/>
          </p:cNvCxnSpPr>
          <p:nvPr/>
        </p:nvCxnSpPr>
        <p:spPr>
          <a:xfrm>
            <a:off x="3505200" y="3559629"/>
            <a:ext cx="772886" cy="0"/>
          </a:xfrm>
          <a:prstGeom prst="line">
            <a:avLst/>
          </a:prstGeom>
          <a:ln w="76200">
            <a:solidFill>
              <a:srgbClr val="2C20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340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0C40-6FBA-9B50-B14E-C5611B65F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C87A7-F9A7-D4B9-22F9-FB7659BDEB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771" y="151972"/>
            <a:ext cx="900089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Decrease</a:t>
            </a:r>
            <a:endParaRPr lang="en-IN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80CCA0-1869-0E2C-ED6F-F2C53EA224BB}"/>
              </a:ext>
            </a:extLst>
          </p:cNvPr>
          <p:cNvSpPr txBox="1"/>
          <p:nvPr/>
        </p:nvSpPr>
        <p:spPr>
          <a:xfrm>
            <a:off x="6403223" y="2185170"/>
            <a:ext cx="531699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600" dirty="0">
                <a:solidFill>
                  <a:srgbClr val="FFFF00"/>
                </a:solidFill>
              </a:rPr>
              <a:t>v = 6					   u = 2</a:t>
            </a:r>
          </a:p>
          <a:p>
            <a:pPr algn="ctr">
              <a:spcBef>
                <a:spcPts val="600"/>
              </a:spcBef>
            </a:pPr>
            <a:r>
              <a:rPr lang="en-US" sz="2600" dirty="0">
                <a:solidFill>
                  <a:srgbClr val="FFFF00"/>
                </a:solidFill>
              </a:rPr>
              <a:t>V = {6}				U = {1,2,3,4,5}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min-Cut = 16</a:t>
            </a:r>
          </a:p>
          <a:p>
            <a:pPr algn="just">
              <a:lnSpc>
                <a:spcPct val="200000"/>
              </a:lnSpc>
              <a:spcBef>
                <a:spcPts val="600"/>
              </a:spcBef>
            </a:pPr>
            <a:r>
              <a:rPr lang="en-US" sz="2600" dirty="0">
                <a:solidFill>
                  <a:srgbClr val="FFFF00"/>
                </a:solidFill>
              </a:rPr>
              <a:t>- Update c*(6,2) = 16</a:t>
            </a:r>
          </a:p>
          <a:p>
            <a:pPr algn="just">
              <a:spcBef>
                <a:spcPts val="600"/>
              </a:spcBef>
            </a:pPr>
            <a:r>
              <a:rPr lang="en-US" sz="2600" dirty="0">
                <a:solidFill>
                  <a:srgbClr val="FFFF00"/>
                </a:solidFill>
              </a:rPr>
              <a:t>- Reconnect 5 to 2</a:t>
            </a:r>
          </a:p>
          <a:p>
            <a:pPr algn="just">
              <a:spcBef>
                <a:spcPts val="600"/>
              </a:spcBef>
            </a:pPr>
            <a:r>
              <a:rPr lang="en-US" sz="2600" dirty="0">
                <a:solidFill>
                  <a:srgbClr val="FFFF00"/>
                </a:solidFill>
              </a:rPr>
              <a:t>- Erase top element from Q</a:t>
            </a:r>
          </a:p>
          <a:p>
            <a:pPr algn="just">
              <a:spcBef>
                <a:spcPts val="600"/>
              </a:spcBef>
            </a:pPr>
            <a:r>
              <a:rPr lang="en-US" sz="2600" dirty="0">
                <a:solidFill>
                  <a:srgbClr val="FFFF00"/>
                </a:solidFill>
              </a:rPr>
              <a:t>- Insert (2,1) to Q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2BEB0B-431E-8860-DD05-581EF0BFF0E6}"/>
              </a:ext>
            </a:extLst>
          </p:cNvPr>
          <p:cNvSpPr txBox="1"/>
          <p:nvPr/>
        </p:nvSpPr>
        <p:spPr>
          <a:xfrm>
            <a:off x="2123052" y="1256800"/>
            <a:ext cx="7345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sz="32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   =    {  (6,2)   ,   (5,3)    ,    (5,4)   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27B476-3B67-7449-53FE-17C0945CF7E1}"/>
              </a:ext>
            </a:extLst>
          </p:cNvPr>
          <p:cNvSpPr/>
          <p:nvPr/>
        </p:nvSpPr>
        <p:spPr>
          <a:xfrm>
            <a:off x="3995056" y="1234602"/>
            <a:ext cx="1317172" cy="6866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A4B54C-22E4-576A-B369-F011ABC2EB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93" y="2351315"/>
            <a:ext cx="5669472" cy="3477986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BDA54B-7829-F566-73F8-CCB9F6000F8C}"/>
              </a:ext>
            </a:extLst>
          </p:cNvPr>
          <p:cNvSpPr/>
          <p:nvPr/>
        </p:nvSpPr>
        <p:spPr>
          <a:xfrm>
            <a:off x="2920150" y="3678973"/>
            <a:ext cx="868240" cy="826115"/>
          </a:xfrm>
          <a:custGeom>
            <a:avLst/>
            <a:gdLst>
              <a:gd name="connsiteX0" fmla="*/ 247593 w 868240"/>
              <a:gd name="connsiteY0" fmla="*/ 54827 h 826115"/>
              <a:gd name="connsiteX1" fmla="*/ 18993 w 868240"/>
              <a:gd name="connsiteY1" fmla="*/ 642656 h 826115"/>
              <a:gd name="connsiteX2" fmla="*/ 704793 w 868240"/>
              <a:gd name="connsiteY2" fmla="*/ 795056 h 826115"/>
              <a:gd name="connsiteX3" fmla="*/ 835421 w 868240"/>
              <a:gd name="connsiteY3" fmla="*/ 109256 h 826115"/>
              <a:gd name="connsiteX4" fmla="*/ 247593 w 868240"/>
              <a:gd name="connsiteY4" fmla="*/ 54827 h 826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240" h="826115">
                <a:moveTo>
                  <a:pt x="247593" y="54827"/>
                </a:moveTo>
                <a:cubicBezTo>
                  <a:pt x="111522" y="143727"/>
                  <a:pt x="-57207" y="519285"/>
                  <a:pt x="18993" y="642656"/>
                </a:cubicBezTo>
                <a:cubicBezTo>
                  <a:pt x="95193" y="766027"/>
                  <a:pt x="568722" y="883956"/>
                  <a:pt x="704793" y="795056"/>
                </a:cubicBezTo>
                <a:cubicBezTo>
                  <a:pt x="840864" y="706156"/>
                  <a:pt x="915250" y="232627"/>
                  <a:pt x="835421" y="109256"/>
                </a:cubicBezTo>
                <a:cubicBezTo>
                  <a:pt x="755592" y="-14115"/>
                  <a:pt x="383664" y="-34073"/>
                  <a:pt x="247593" y="54827"/>
                </a:cubicBezTo>
                <a:close/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2CDF120-BB25-371B-1988-BF7145AEB922}"/>
              </a:ext>
            </a:extLst>
          </p:cNvPr>
          <p:cNvSpPr/>
          <p:nvPr/>
        </p:nvSpPr>
        <p:spPr>
          <a:xfrm>
            <a:off x="4167474" y="2880111"/>
            <a:ext cx="2137196" cy="2672771"/>
          </a:xfrm>
          <a:custGeom>
            <a:avLst/>
            <a:gdLst>
              <a:gd name="connsiteX0" fmla="*/ 393640 w 2137196"/>
              <a:gd name="connsiteY0" fmla="*/ 810146 h 2672771"/>
              <a:gd name="connsiteX1" fmla="*/ 77955 w 2137196"/>
              <a:gd name="connsiteY1" fmla="*/ 1060518 h 2672771"/>
              <a:gd name="connsiteX2" fmla="*/ 143269 w 2137196"/>
              <a:gd name="connsiteY2" fmla="*/ 1474175 h 2672771"/>
              <a:gd name="connsiteX3" fmla="*/ 1569297 w 2137196"/>
              <a:gd name="connsiteY3" fmla="*/ 2649832 h 2672771"/>
              <a:gd name="connsiteX4" fmla="*/ 2070040 w 2137196"/>
              <a:gd name="connsiteY4" fmla="*/ 2170860 h 2672771"/>
              <a:gd name="connsiteX5" fmla="*/ 992355 w 2137196"/>
              <a:gd name="connsiteY5" fmla="*/ 1180260 h 2672771"/>
              <a:gd name="connsiteX6" fmla="*/ 2113583 w 2137196"/>
              <a:gd name="connsiteY6" fmla="*/ 505346 h 2672771"/>
              <a:gd name="connsiteX7" fmla="*/ 1645497 w 2137196"/>
              <a:gd name="connsiteY7" fmla="*/ 4603 h 2672771"/>
              <a:gd name="connsiteX8" fmla="*/ 393640 w 2137196"/>
              <a:gd name="connsiteY8" fmla="*/ 810146 h 2672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7196" h="2672771">
                <a:moveTo>
                  <a:pt x="393640" y="810146"/>
                </a:moveTo>
                <a:cubicBezTo>
                  <a:pt x="132383" y="986132"/>
                  <a:pt x="119683" y="949847"/>
                  <a:pt x="77955" y="1060518"/>
                </a:cubicBezTo>
                <a:cubicBezTo>
                  <a:pt x="36227" y="1171189"/>
                  <a:pt x="-105288" y="1209289"/>
                  <a:pt x="143269" y="1474175"/>
                </a:cubicBezTo>
                <a:cubicBezTo>
                  <a:pt x="391826" y="1739061"/>
                  <a:pt x="1248168" y="2533718"/>
                  <a:pt x="1569297" y="2649832"/>
                </a:cubicBezTo>
                <a:cubicBezTo>
                  <a:pt x="1890426" y="2765946"/>
                  <a:pt x="2166197" y="2415789"/>
                  <a:pt x="2070040" y="2170860"/>
                </a:cubicBezTo>
                <a:cubicBezTo>
                  <a:pt x="1973883" y="1925931"/>
                  <a:pt x="985098" y="1457846"/>
                  <a:pt x="992355" y="1180260"/>
                </a:cubicBezTo>
                <a:cubicBezTo>
                  <a:pt x="999612" y="902674"/>
                  <a:pt x="2004726" y="701289"/>
                  <a:pt x="2113583" y="505346"/>
                </a:cubicBezTo>
                <a:cubicBezTo>
                  <a:pt x="2222440" y="309403"/>
                  <a:pt x="1935783" y="-44383"/>
                  <a:pt x="1645497" y="4603"/>
                </a:cubicBezTo>
                <a:cubicBezTo>
                  <a:pt x="1355211" y="53589"/>
                  <a:pt x="654897" y="634160"/>
                  <a:pt x="393640" y="810146"/>
                </a:cubicBezTo>
                <a:close/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CF1472E-BB26-F35A-E271-97D45E8AB2F4}"/>
              </a:ext>
            </a:extLst>
          </p:cNvPr>
          <p:cNvSpPr/>
          <p:nvPr/>
        </p:nvSpPr>
        <p:spPr>
          <a:xfrm>
            <a:off x="268627" y="3675540"/>
            <a:ext cx="2268001" cy="911116"/>
          </a:xfrm>
          <a:custGeom>
            <a:avLst/>
            <a:gdLst>
              <a:gd name="connsiteX0" fmla="*/ 232116 w 2268001"/>
              <a:gd name="connsiteY0" fmla="*/ 123574 h 911116"/>
              <a:gd name="connsiteX1" fmla="*/ 221230 w 2268001"/>
              <a:gd name="connsiteY1" fmla="*/ 831146 h 911116"/>
              <a:gd name="connsiteX2" fmla="*/ 2060916 w 2268001"/>
              <a:gd name="connsiteY2" fmla="*/ 809374 h 911116"/>
              <a:gd name="connsiteX3" fmla="*/ 2017373 w 2268001"/>
              <a:gd name="connsiteY3" fmla="*/ 69146 h 911116"/>
              <a:gd name="connsiteX4" fmla="*/ 232116 w 2268001"/>
              <a:gd name="connsiteY4" fmla="*/ 123574 h 9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8001" h="911116">
                <a:moveTo>
                  <a:pt x="232116" y="123574"/>
                </a:moveTo>
                <a:cubicBezTo>
                  <a:pt x="-67241" y="250574"/>
                  <a:pt x="-83570" y="716846"/>
                  <a:pt x="221230" y="831146"/>
                </a:cubicBezTo>
                <a:cubicBezTo>
                  <a:pt x="526030" y="945446"/>
                  <a:pt x="1761559" y="936374"/>
                  <a:pt x="2060916" y="809374"/>
                </a:cubicBezTo>
                <a:cubicBezTo>
                  <a:pt x="2360273" y="682374"/>
                  <a:pt x="2325802" y="188889"/>
                  <a:pt x="2017373" y="69146"/>
                </a:cubicBezTo>
                <a:cubicBezTo>
                  <a:pt x="1708944" y="-50597"/>
                  <a:pt x="531473" y="-3426"/>
                  <a:pt x="232116" y="123574"/>
                </a:cubicBezTo>
                <a:close/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1CFB293-CB79-8CD3-B430-E2D3EC064AB3}"/>
              </a:ext>
            </a:extLst>
          </p:cNvPr>
          <p:cNvSpPr/>
          <p:nvPr/>
        </p:nvSpPr>
        <p:spPr>
          <a:xfrm>
            <a:off x="2219269" y="3004953"/>
            <a:ext cx="1948205" cy="911116"/>
          </a:xfrm>
          <a:custGeom>
            <a:avLst/>
            <a:gdLst>
              <a:gd name="connsiteX0" fmla="*/ 2362200 w 2362200"/>
              <a:gd name="connsiteY0" fmla="*/ 686135 h 686135"/>
              <a:gd name="connsiteX1" fmla="*/ 1055914 w 2362200"/>
              <a:gd name="connsiteY1" fmla="*/ 335 h 686135"/>
              <a:gd name="connsiteX2" fmla="*/ 0 w 2362200"/>
              <a:gd name="connsiteY2" fmla="*/ 599049 h 686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2200" h="686135">
                <a:moveTo>
                  <a:pt x="2362200" y="686135"/>
                </a:moveTo>
                <a:cubicBezTo>
                  <a:pt x="1905907" y="350492"/>
                  <a:pt x="1449614" y="14849"/>
                  <a:pt x="1055914" y="335"/>
                </a:cubicBezTo>
                <a:cubicBezTo>
                  <a:pt x="662214" y="-14179"/>
                  <a:pt x="159657" y="446649"/>
                  <a:pt x="0" y="599049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7B874DCF-C7B1-C4C4-4681-66892498E116}"/>
              </a:ext>
            </a:extLst>
          </p:cNvPr>
          <p:cNvSpPr/>
          <p:nvPr/>
        </p:nvSpPr>
        <p:spPr>
          <a:xfrm rot="12487940">
            <a:off x="2150023" y="3688884"/>
            <a:ext cx="177851" cy="196886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936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2ADC8-40DA-AD79-F3CC-BD87962D3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C3D1A-5BB4-0696-DBBC-38F899862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771" y="151972"/>
            <a:ext cx="900089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Decrease</a:t>
            </a:r>
            <a:endParaRPr lang="en-IN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635EF2-5395-2D51-80E3-CE5E53E7EAF7}"/>
              </a:ext>
            </a:extLst>
          </p:cNvPr>
          <p:cNvSpPr txBox="1"/>
          <p:nvPr/>
        </p:nvSpPr>
        <p:spPr>
          <a:xfrm>
            <a:off x="6454659" y="2645218"/>
            <a:ext cx="5316993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600" dirty="0">
                <a:solidFill>
                  <a:srgbClr val="FFFF00"/>
                </a:solidFill>
              </a:rPr>
              <a:t>v = 2					   u = 1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min-Cut = 18</a:t>
            </a:r>
          </a:p>
          <a:p>
            <a:pPr algn="just">
              <a:lnSpc>
                <a:spcPct val="200000"/>
              </a:lnSpc>
              <a:spcBef>
                <a:spcPts val="600"/>
              </a:spcBef>
            </a:pPr>
            <a:r>
              <a:rPr lang="en-US" sz="2600" dirty="0">
                <a:solidFill>
                  <a:srgbClr val="FFFF00"/>
                </a:solidFill>
              </a:rPr>
              <a:t>- 	Erase top element from Q</a:t>
            </a:r>
          </a:p>
          <a:p>
            <a:pPr marL="457200" indent="-457200" algn="just">
              <a:spcBef>
                <a:spcPts val="600"/>
              </a:spcBef>
              <a:buFontTx/>
              <a:buChar char="-"/>
            </a:pPr>
            <a:r>
              <a:rPr lang="en-US" sz="2600" dirty="0">
                <a:solidFill>
                  <a:srgbClr val="FFFF00"/>
                </a:solidFill>
              </a:rPr>
              <a:t>Insert (2,1) to Q</a:t>
            </a:r>
          </a:p>
          <a:p>
            <a:pPr marL="457200" indent="-457200" algn="just">
              <a:spcBef>
                <a:spcPts val="600"/>
              </a:spcBef>
              <a:buFontTx/>
              <a:buChar char="-"/>
            </a:pPr>
            <a:r>
              <a:rPr lang="en-US" sz="2600" dirty="0">
                <a:solidFill>
                  <a:srgbClr val="FFFF00"/>
                </a:solidFill>
              </a:rPr>
              <a:t>Current-Cut = previous-Cut</a:t>
            </a:r>
          </a:p>
          <a:p>
            <a:pPr marL="457200" indent="-457200" algn="just">
              <a:spcBef>
                <a:spcPts val="600"/>
              </a:spcBef>
              <a:buFontTx/>
              <a:buChar char="-"/>
            </a:pPr>
            <a:r>
              <a:rPr lang="en-US" sz="2600" dirty="0">
                <a:solidFill>
                  <a:srgbClr val="FFFF00"/>
                </a:solidFill>
              </a:rPr>
              <a:t>Skip (Line 15)</a:t>
            </a:r>
            <a:endParaRPr lang="en-US" sz="2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1E627-FAF2-D8C4-6C63-1982AD74268B}"/>
              </a:ext>
            </a:extLst>
          </p:cNvPr>
          <p:cNvSpPr txBox="1"/>
          <p:nvPr/>
        </p:nvSpPr>
        <p:spPr>
          <a:xfrm>
            <a:off x="2123052" y="1256800"/>
            <a:ext cx="7345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sz="32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   =    {  (2,1)   ,   (5,3)    ,    (5,4)   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F9316-3978-4864-56F3-FE227D73D8E7}"/>
              </a:ext>
            </a:extLst>
          </p:cNvPr>
          <p:cNvSpPr/>
          <p:nvPr/>
        </p:nvSpPr>
        <p:spPr>
          <a:xfrm>
            <a:off x="3995056" y="1234602"/>
            <a:ext cx="1317172" cy="6866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A041B3-181D-E9C1-2C9F-E5BD60BF9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48" y="2198344"/>
            <a:ext cx="608647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388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6B7D0-C382-AA7D-31DF-F6CB94C3C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40442-9D1A-2D72-1216-31BAF6A3B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771" y="151972"/>
            <a:ext cx="900089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Decrease</a:t>
            </a:r>
            <a:endParaRPr lang="en-IN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DBB2FC-3AB0-C7E0-F5B4-DBF93885FBAC}"/>
              </a:ext>
            </a:extLst>
          </p:cNvPr>
          <p:cNvSpPr txBox="1"/>
          <p:nvPr/>
        </p:nvSpPr>
        <p:spPr>
          <a:xfrm>
            <a:off x="6559323" y="2349389"/>
            <a:ext cx="5316993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600" dirty="0">
                <a:solidFill>
                  <a:srgbClr val="FFFF00"/>
                </a:solidFill>
              </a:rPr>
              <a:t>v = 5					   u = 3</a:t>
            </a:r>
          </a:p>
          <a:p>
            <a:pPr algn="ctr">
              <a:spcBef>
                <a:spcPts val="600"/>
              </a:spcBef>
            </a:pPr>
            <a:r>
              <a:rPr lang="en-US" sz="2600" dirty="0">
                <a:solidFill>
                  <a:srgbClr val="FFFF00"/>
                </a:solidFill>
              </a:rPr>
              <a:t>V = {4,5}				U = {1,2,3,6}</a:t>
            </a:r>
          </a:p>
          <a:p>
            <a:pPr algn="ctr">
              <a:spcBef>
                <a:spcPts val="1800"/>
              </a:spcBef>
            </a:pPr>
            <a:r>
              <a:rPr lang="en-US" sz="2600" dirty="0">
                <a:solidFill>
                  <a:srgbClr val="FFFF00"/>
                </a:solidFill>
              </a:rPr>
              <a:t>min-Cut = 14</a:t>
            </a:r>
          </a:p>
          <a:p>
            <a:pPr algn="just">
              <a:lnSpc>
                <a:spcPct val="200000"/>
              </a:lnSpc>
              <a:spcBef>
                <a:spcPts val="600"/>
              </a:spcBef>
            </a:pPr>
            <a:r>
              <a:rPr lang="en-US" sz="2600" dirty="0">
                <a:solidFill>
                  <a:srgbClr val="FFFF00"/>
                </a:solidFill>
              </a:rPr>
              <a:t>- Update c*(5,3) = 14</a:t>
            </a:r>
          </a:p>
          <a:p>
            <a:pPr algn="just">
              <a:spcBef>
                <a:spcPts val="600"/>
              </a:spcBef>
            </a:pPr>
            <a:r>
              <a:rPr lang="en-US" sz="2600" dirty="0">
                <a:solidFill>
                  <a:srgbClr val="FFFF00"/>
                </a:solidFill>
              </a:rPr>
              <a:t>- Reconnect 2 to 3</a:t>
            </a:r>
          </a:p>
          <a:p>
            <a:pPr algn="just">
              <a:spcBef>
                <a:spcPts val="600"/>
              </a:spcBef>
            </a:pPr>
            <a:r>
              <a:rPr lang="en-US" sz="2600" dirty="0">
                <a:solidFill>
                  <a:srgbClr val="FFFF00"/>
                </a:solidFill>
              </a:rPr>
              <a:t>- Erase top element from Q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939CDF-ECF9-40EE-CF1F-3525641D50F6}"/>
              </a:ext>
            </a:extLst>
          </p:cNvPr>
          <p:cNvSpPr txBox="1"/>
          <p:nvPr/>
        </p:nvSpPr>
        <p:spPr>
          <a:xfrm>
            <a:off x="1295738" y="1259124"/>
            <a:ext cx="7345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sz="32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   =    {  (5,3)    ,    (5,4)   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8685F5-68F0-BB77-4949-FE8705BE2AEB}"/>
              </a:ext>
            </a:extLst>
          </p:cNvPr>
          <p:cNvSpPr/>
          <p:nvPr/>
        </p:nvSpPr>
        <p:spPr>
          <a:xfrm>
            <a:off x="3995056" y="1234602"/>
            <a:ext cx="1317172" cy="6866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62365035-A3D6-3597-03C6-37D36BE964A3}"/>
              </a:ext>
            </a:extLst>
          </p:cNvPr>
          <p:cNvSpPr/>
          <p:nvPr/>
        </p:nvSpPr>
        <p:spPr>
          <a:xfrm rot="5853813">
            <a:off x="5397474" y="2810334"/>
            <a:ext cx="177851" cy="196886"/>
          </a:xfrm>
          <a:prstGeom prst="triangl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7C4D07-CCC0-FE6A-724A-98082BB2A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48" y="2197142"/>
            <a:ext cx="6086475" cy="373380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886D018-5055-5604-3773-52C8BAA1EC88}"/>
              </a:ext>
            </a:extLst>
          </p:cNvPr>
          <p:cNvSpPr/>
          <p:nvPr/>
        </p:nvSpPr>
        <p:spPr>
          <a:xfrm>
            <a:off x="4094155" y="3469027"/>
            <a:ext cx="2225713" cy="2185201"/>
          </a:xfrm>
          <a:custGeom>
            <a:avLst/>
            <a:gdLst>
              <a:gd name="connsiteX0" fmla="*/ 1609959 w 2225713"/>
              <a:gd name="connsiteY0" fmla="*/ 2158887 h 2185201"/>
              <a:gd name="connsiteX1" fmla="*/ 96845 w 2225713"/>
              <a:gd name="connsiteY1" fmla="*/ 743744 h 2185201"/>
              <a:gd name="connsiteX2" fmla="*/ 205702 w 2225713"/>
              <a:gd name="connsiteY2" fmla="*/ 112373 h 2185201"/>
              <a:gd name="connsiteX3" fmla="*/ 641131 w 2225713"/>
              <a:gd name="connsiteY3" fmla="*/ 145030 h 2185201"/>
              <a:gd name="connsiteX4" fmla="*/ 2186902 w 2225713"/>
              <a:gd name="connsiteY4" fmla="*/ 1549287 h 2185201"/>
              <a:gd name="connsiteX5" fmla="*/ 1609959 w 2225713"/>
              <a:gd name="connsiteY5" fmla="*/ 2158887 h 2185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25713" h="2185201">
                <a:moveTo>
                  <a:pt x="1609959" y="2158887"/>
                </a:moveTo>
                <a:cubicBezTo>
                  <a:pt x="1261616" y="2024630"/>
                  <a:pt x="330888" y="1084830"/>
                  <a:pt x="96845" y="743744"/>
                </a:cubicBezTo>
                <a:cubicBezTo>
                  <a:pt x="-137198" y="402658"/>
                  <a:pt x="114988" y="212159"/>
                  <a:pt x="205702" y="112373"/>
                </a:cubicBezTo>
                <a:cubicBezTo>
                  <a:pt x="296416" y="12587"/>
                  <a:pt x="310931" y="-94456"/>
                  <a:pt x="641131" y="145030"/>
                </a:cubicBezTo>
                <a:cubicBezTo>
                  <a:pt x="971331" y="384516"/>
                  <a:pt x="2021802" y="1211830"/>
                  <a:pt x="2186902" y="1549287"/>
                </a:cubicBezTo>
                <a:cubicBezTo>
                  <a:pt x="2352002" y="1886744"/>
                  <a:pt x="1958302" y="2293144"/>
                  <a:pt x="1609959" y="2158887"/>
                </a:cubicBezTo>
                <a:close/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2BCAE74-7F1F-5C34-6F61-50DBCAD08200}"/>
              </a:ext>
            </a:extLst>
          </p:cNvPr>
          <p:cNvSpPr/>
          <p:nvPr/>
        </p:nvSpPr>
        <p:spPr>
          <a:xfrm>
            <a:off x="5321570" y="2632966"/>
            <a:ext cx="1004688" cy="905893"/>
          </a:xfrm>
          <a:custGeom>
            <a:avLst/>
            <a:gdLst>
              <a:gd name="connsiteX0" fmla="*/ 1544 w 1004688"/>
              <a:gd name="connsiteY0" fmla="*/ 371491 h 905893"/>
              <a:gd name="connsiteX1" fmla="*/ 436973 w 1004688"/>
              <a:gd name="connsiteY1" fmla="*/ 904891 h 905893"/>
              <a:gd name="connsiteX2" fmla="*/ 1003030 w 1004688"/>
              <a:gd name="connsiteY2" fmla="*/ 491234 h 905893"/>
              <a:gd name="connsiteX3" fmla="*/ 589373 w 1004688"/>
              <a:gd name="connsiteY3" fmla="*/ 1377 h 905893"/>
              <a:gd name="connsiteX4" fmla="*/ 1544 w 1004688"/>
              <a:gd name="connsiteY4" fmla="*/ 371491 h 905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4688" h="905893">
                <a:moveTo>
                  <a:pt x="1544" y="371491"/>
                </a:moveTo>
                <a:cubicBezTo>
                  <a:pt x="-23856" y="522076"/>
                  <a:pt x="270059" y="884934"/>
                  <a:pt x="436973" y="904891"/>
                </a:cubicBezTo>
                <a:cubicBezTo>
                  <a:pt x="603887" y="924848"/>
                  <a:pt x="977630" y="641819"/>
                  <a:pt x="1003030" y="491234"/>
                </a:cubicBezTo>
                <a:cubicBezTo>
                  <a:pt x="1028430" y="340649"/>
                  <a:pt x="756287" y="23148"/>
                  <a:pt x="589373" y="1377"/>
                </a:cubicBezTo>
                <a:cubicBezTo>
                  <a:pt x="422459" y="-20394"/>
                  <a:pt x="26944" y="220906"/>
                  <a:pt x="1544" y="371491"/>
                </a:cubicBezTo>
                <a:close/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DBCEE6-6D41-AB54-CF5C-5F3B20E67A21}"/>
              </a:ext>
            </a:extLst>
          </p:cNvPr>
          <p:cNvSpPr/>
          <p:nvPr/>
        </p:nvSpPr>
        <p:spPr>
          <a:xfrm>
            <a:off x="315604" y="3421399"/>
            <a:ext cx="2938202" cy="2659749"/>
          </a:xfrm>
          <a:custGeom>
            <a:avLst/>
            <a:gdLst>
              <a:gd name="connsiteX0" fmla="*/ 2721510 w 2938202"/>
              <a:gd name="connsiteY0" fmla="*/ 192658 h 2659749"/>
              <a:gd name="connsiteX1" fmla="*/ 348425 w 2938202"/>
              <a:gd name="connsiteY1" fmla="*/ 225315 h 2659749"/>
              <a:gd name="connsiteX2" fmla="*/ 196025 w 2938202"/>
              <a:gd name="connsiteY2" fmla="*/ 1019972 h 2659749"/>
              <a:gd name="connsiteX3" fmla="*/ 2111910 w 2938202"/>
              <a:gd name="connsiteY3" fmla="*/ 954658 h 2659749"/>
              <a:gd name="connsiteX4" fmla="*/ 1981282 w 2938202"/>
              <a:gd name="connsiteY4" fmla="*/ 2293601 h 2659749"/>
              <a:gd name="connsiteX5" fmla="*/ 2743282 w 2938202"/>
              <a:gd name="connsiteY5" fmla="*/ 2500430 h 2659749"/>
              <a:gd name="connsiteX6" fmla="*/ 2721510 w 2938202"/>
              <a:gd name="connsiteY6" fmla="*/ 192658 h 2659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8202" h="2659749">
                <a:moveTo>
                  <a:pt x="2721510" y="192658"/>
                </a:moveTo>
                <a:cubicBezTo>
                  <a:pt x="2322367" y="-186528"/>
                  <a:pt x="769339" y="87429"/>
                  <a:pt x="348425" y="225315"/>
                </a:cubicBezTo>
                <a:cubicBezTo>
                  <a:pt x="-72489" y="363201"/>
                  <a:pt x="-97889" y="898415"/>
                  <a:pt x="196025" y="1019972"/>
                </a:cubicBezTo>
                <a:cubicBezTo>
                  <a:pt x="489939" y="1141529"/>
                  <a:pt x="1814367" y="742387"/>
                  <a:pt x="2111910" y="954658"/>
                </a:cubicBezTo>
                <a:cubicBezTo>
                  <a:pt x="2409453" y="1166929"/>
                  <a:pt x="1876053" y="2035972"/>
                  <a:pt x="1981282" y="2293601"/>
                </a:cubicBezTo>
                <a:cubicBezTo>
                  <a:pt x="2086511" y="2551230"/>
                  <a:pt x="2616282" y="2850587"/>
                  <a:pt x="2743282" y="2500430"/>
                </a:cubicBezTo>
                <a:cubicBezTo>
                  <a:pt x="2870282" y="2150273"/>
                  <a:pt x="3120653" y="571844"/>
                  <a:pt x="2721510" y="192658"/>
                </a:cubicBezTo>
                <a:close/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7157D89-920E-0863-B8FE-008575D91DEC}"/>
              </a:ext>
            </a:extLst>
          </p:cNvPr>
          <p:cNvSpPr/>
          <p:nvPr/>
        </p:nvSpPr>
        <p:spPr>
          <a:xfrm>
            <a:off x="3603171" y="2840762"/>
            <a:ext cx="1883229" cy="1165181"/>
          </a:xfrm>
          <a:custGeom>
            <a:avLst/>
            <a:gdLst>
              <a:gd name="connsiteX0" fmla="*/ 0 w 1883229"/>
              <a:gd name="connsiteY0" fmla="*/ 1165181 h 1165181"/>
              <a:gd name="connsiteX1" fmla="*/ 653143 w 1883229"/>
              <a:gd name="connsiteY1" fmla="*/ 87495 h 1165181"/>
              <a:gd name="connsiteX2" fmla="*/ 1861458 w 1883229"/>
              <a:gd name="connsiteY2" fmla="*/ 65724 h 1165181"/>
              <a:gd name="connsiteX3" fmla="*/ 1861458 w 1883229"/>
              <a:gd name="connsiteY3" fmla="*/ 65724 h 1165181"/>
              <a:gd name="connsiteX4" fmla="*/ 1883229 w 1883229"/>
              <a:gd name="connsiteY4" fmla="*/ 54838 h 116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229" h="1165181">
                <a:moveTo>
                  <a:pt x="0" y="1165181"/>
                </a:moveTo>
                <a:cubicBezTo>
                  <a:pt x="171450" y="717959"/>
                  <a:pt x="342900" y="270738"/>
                  <a:pt x="653143" y="87495"/>
                </a:cubicBezTo>
                <a:cubicBezTo>
                  <a:pt x="963386" y="-95748"/>
                  <a:pt x="1861458" y="65724"/>
                  <a:pt x="1861458" y="65724"/>
                </a:cubicBezTo>
                <a:lnTo>
                  <a:pt x="1861458" y="65724"/>
                </a:lnTo>
                <a:lnTo>
                  <a:pt x="1883229" y="54838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3308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9F8AE-A7BC-38D4-C1AF-0F94A947B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768B5-8A36-429A-F31A-9D781F15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771" y="151972"/>
            <a:ext cx="900089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Decrease</a:t>
            </a:r>
            <a:endParaRPr lang="en-IN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57CB84-49EC-63E4-4CF2-D2AB18593B2D}"/>
                  </a:ext>
                </a:extLst>
              </p:cNvPr>
              <p:cNvSpPr txBox="1"/>
              <p:nvPr/>
            </p:nvSpPr>
            <p:spPr>
              <a:xfrm>
                <a:off x="6641646" y="2828361"/>
                <a:ext cx="5316993" cy="2323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2600" dirty="0">
                    <a:solidFill>
                      <a:srgbClr val="FFFF00"/>
                    </a:solidFill>
                  </a:rPr>
                  <a:t>v = 5					   u = 4</a:t>
                </a:r>
              </a:p>
              <a:p>
                <a:pPr marL="457200" indent="-457200" algn="just">
                  <a:lnSpc>
                    <a:spcPct val="200000"/>
                  </a:lnSpc>
                  <a:spcBef>
                    <a:spcPts val="600"/>
                  </a:spcBef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2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5,4</m:t>
                        </m:r>
                      </m:e>
                    </m:d>
                    <m:r>
                      <a:rPr lang="en-US" sz="2600" b="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(5,3) = 14</m:t>
                    </m:r>
                  </m:oMath>
                </a14:m>
                <a:endParaRPr lang="en-US" sz="2600" dirty="0">
                  <a:solidFill>
                    <a:srgbClr val="FFFF00"/>
                  </a:solidFill>
                </a:endParaRPr>
              </a:p>
              <a:p>
                <a:pPr marL="457200" indent="-457200" algn="just">
                  <a:spcBef>
                    <a:spcPts val="600"/>
                  </a:spcBef>
                  <a:buFontTx/>
                  <a:buChar char="-"/>
                </a:pPr>
                <a:r>
                  <a:rPr lang="en-US" sz="2600" dirty="0">
                    <a:solidFill>
                      <a:srgbClr val="FFFF00"/>
                    </a:solidFill>
                  </a:rPr>
                  <a:t>Skip (Line 8)</a:t>
                </a:r>
              </a:p>
              <a:p>
                <a:pPr marL="457200" indent="-457200" algn="just">
                  <a:spcBef>
                    <a:spcPts val="600"/>
                  </a:spcBef>
                  <a:buFontTx/>
                  <a:buChar char="-"/>
                </a:pPr>
                <a:r>
                  <a:rPr lang="en-US" sz="2600" dirty="0">
                    <a:solidFill>
                      <a:srgbClr val="FFFF00"/>
                    </a:solidFill>
                  </a:rPr>
                  <a:t>Erase top element from Q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57CB84-49EC-63E4-4CF2-D2AB18593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646" y="2828361"/>
                <a:ext cx="5316993" cy="2323713"/>
              </a:xfrm>
              <a:prstGeom prst="rect">
                <a:avLst/>
              </a:prstGeom>
              <a:blipFill>
                <a:blip r:embed="rId2"/>
                <a:stretch>
                  <a:fillRect l="-2064" t="-2362" b="-55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CCE6D70-EDB6-00A1-8071-FAEA4A7CF26D}"/>
              </a:ext>
            </a:extLst>
          </p:cNvPr>
          <p:cNvSpPr txBox="1"/>
          <p:nvPr/>
        </p:nvSpPr>
        <p:spPr>
          <a:xfrm>
            <a:off x="370033" y="1256800"/>
            <a:ext cx="7345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sz="32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   =    {  (5,4)   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BADE87-00C6-7ED8-CDCD-5878894FB9EC}"/>
              </a:ext>
            </a:extLst>
          </p:cNvPr>
          <p:cNvSpPr/>
          <p:nvPr/>
        </p:nvSpPr>
        <p:spPr>
          <a:xfrm>
            <a:off x="3995056" y="1234602"/>
            <a:ext cx="1317172" cy="6866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7467D3-1FC1-1BE4-4D56-B92E67E367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71" y="2349389"/>
            <a:ext cx="608647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5657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77A4D-AEA8-3357-B4C9-5D1572BEA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3EA59-86C6-C0F1-432C-CD6EE76FE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4771" y="151972"/>
            <a:ext cx="900089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Decrease</a:t>
            </a:r>
            <a:endParaRPr lang="en-IN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DEA50-9649-A7D2-1169-704A4E19C5B8}"/>
              </a:ext>
            </a:extLst>
          </p:cNvPr>
          <p:cNvSpPr txBox="1"/>
          <p:nvPr/>
        </p:nvSpPr>
        <p:spPr>
          <a:xfrm>
            <a:off x="6537584" y="3165819"/>
            <a:ext cx="531699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600" dirty="0">
                <a:solidFill>
                  <a:srgbClr val="FFFF00"/>
                </a:solidFill>
              </a:rPr>
              <a:t>Q is empty</a:t>
            </a:r>
          </a:p>
          <a:p>
            <a:pPr algn="ctr">
              <a:spcBef>
                <a:spcPts val="600"/>
              </a:spcBef>
            </a:pPr>
            <a:endParaRPr lang="en-US" sz="2600" dirty="0">
              <a:solidFill>
                <a:srgbClr val="FFFF00"/>
              </a:solidFill>
            </a:endParaRPr>
          </a:p>
          <a:p>
            <a:pPr algn="ctr">
              <a:spcBef>
                <a:spcPts val="600"/>
              </a:spcBef>
            </a:pPr>
            <a:r>
              <a:rPr lang="en-US" sz="2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Terminate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7B1871-1AFE-34C7-FEEF-233657B4B8EA}"/>
              </a:ext>
            </a:extLst>
          </p:cNvPr>
          <p:cNvSpPr txBox="1"/>
          <p:nvPr/>
        </p:nvSpPr>
        <p:spPr>
          <a:xfrm>
            <a:off x="1850490" y="1312471"/>
            <a:ext cx="73455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sz="32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   =    {  }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42EA55-7305-6496-3103-87223B152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71" y="2349389"/>
            <a:ext cx="608647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234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7AA02-46DA-17B1-C145-F87AFBE69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A66A0-5B1D-F4A9-1D79-CFAFFD157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064" y="197106"/>
            <a:ext cx="9262155" cy="805543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Works</a:t>
            </a:r>
            <a:endParaRPr lang="en-IN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AA04B4-32FD-45B0-3718-C3FBE16B577B}"/>
              </a:ext>
            </a:extLst>
          </p:cNvPr>
          <p:cNvSpPr txBox="1"/>
          <p:nvPr/>
        </p:nvSpPr>
        <p:spPr>
          <a:xfrm>
            <a:off x="870777" y="1453986"/>
            <a:ext cx="96448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800"/>
              </a:spcBef>
            </a:pPr>
            <a:r>
              <a:rPr lang="en-US" sz="32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 Clustering </a:t>
            </a:r>
            <a:r>
              <a:rPr lang="en-US" sz="2800" dirty="0"/>
              <a:t>– Decomposing a given graph into somehow dense subgraphs called </a:t>
            </a: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clusters.</a:t>
            </a:r>
            <a:endParaRPr lang="en-US" sz="3200" dirty="0">
              <a:solidFill>
                <a:srgbClr val="92D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657783-620C-9959-3B39-AD6C3FE40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4150" y="2444356"/>
            <a:ext cx="4325117" cy="2108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6BE674-6FD2-3CFF-A6B1-85D506E1C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150" y="4552625"/>
            <a:ext cx="4327953" cy="21777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4F56EA-D46F-B1DF-1F82-13ACD42B578F}"/>
              </a:ext>
            </a:extLst>
          </p:cNvPr>
          <p:cNvSpPr txBox="1"/>
          <p:nvPr/>
        </p:nvSpPr>
        <p:spPr>
          <a:xfrm>
            <a:off x="870777" y="2675188"/>
            <a:ext cx="6400880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800"/>
              </a:spcBef>
            </a:pPr>
            <a:r>
              <a:rPr lang="en-US" sz="2500" dirty="0"/>
              <a:t>Cut-based clustering algorithm (Flake clustering) is used for:</a:t>
            </a:r>
          </a:p>
          <a:p>
            <a:pPr marL="342900" indent="-342900" algn="just">
              <a:spcBef>
                <a:spcPts val="1800"/>
              </a:spcBef>
              <a:buFontTx/>
              <a:buChar char="-"/>
            </a:pPr>
            <a:r>
              <a:rPr lang="en-US" sz="2500" dirty="0"/>
              <a:t>Finding good clusters in general graphs, which are further used for optimizations in NP-hard problems.</a:t>
            </a:r>
          </a:p>
          <a:p>
            <a:pPr marL="342900" indent="-342900" algn="just">
              <a:spcBef>
                <a:spcPts val="1800"/>
              </a:spcBef>
              <a:buFontTx/>
              <a:buChar char="-"/>
            </a:pPr>
            <a:r>
              <a:rPr lang="en-US" sz="2500" dirty="0"/>
              <a:t> Hierarchies of clusters in overlapping   </a:t>
            </a:r>
            <a:br>
              <a:rPr lang="en-US" sz="2500" dirty="0"/>
            </a:br>
            <a:r>
              <a:rPr lang="en-US" sz="2500" dirty="0"/>
              <a:t> subgraphs.</a:t>
            </a:r>
            <a:endParaRPr lang="en-US" sz="25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792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DAC27-C550-5E77-CB1F-F92B8E389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4B026-EB9C-1186-DD37-B465A7705F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064" y="197106"/>
            <a:ext cx="9262155" cy="805543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</a:t>
            </a:r>
            <a:endParaRPr lang="en-IN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0130ED-A564-641F-2704-49149BA7F050}"/>
              </a:ext>
            </a:extLst>
          </p:cNvPr>
          <p:cNvSpPr txBox="1"/>
          <p:nvPr/>
        </p:nvSpPr>
        <p:spPr>
          <a:xfrm>
            <a:off x="1171006" y="1314474"/>
            <a:ext cx="1049382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Community Detection</a:t>
            </a:r>
          </a:p>
          <a:p>
            <a:pPr marL="342900" indent="-342900" algn="just">
              <a:lnSpc>
                <a:spcPct val="250000"/>
              </a:lnSpc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Network Reliability and Resilience analysis</a:t>
            </a:r>
          </a:p>
          <a:p>
            <a:pPr marL="342900" indent="-342900">
              <a:lnSpc>
                <a:spcPct val="200000"/>
              </a:lnSpc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Computer vision </a:t>
            </a:r>
            <a:r>
              <a:rPr lang="en-US" sz="2800" dirty="0"/>
              <a:t>(image segmentation in videos)</a:t>
            </a:r>
          </a:p>
          <a:p>
            <a:pPr marL="342900" indent="-342900">
              <a:spcBef>
                <a:spcPts val="4800"/>
              </a:spcBef>
              <a:buFont typeface="Wingdings" panose="05000000000000000000" pitchFamily="2" charset="2"/>
              <a:buChar char="q"/>
            </a:pPr>
            <a:r>
              <a:rPr lang="en-US" sz="3200" dirty="0"/>
              <a:t> </a:t>
            </a:r>
            <a:r>
              <a:rPr lang="en-US" sz="2800" dirty="0"/>
              <a:t>  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Clustering of protein structures </a:t>
            </a:r>
            <a:r>
              <a:rPr lang="en-US" sz="2800" dirty="0"/>
              <a:t>into strongly connected groups, to identify real PPI.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55315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80E65-38E1-1D41-7A5F-96AA9EB21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97972"/>
            <a:ext cx="9262155" cy="805543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References</a:t>
            </a:r>
            <a:endParaRPr lang="en-IN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D9A8F9-CB81-F53A-233E-BE6B3DDE209E}"/>
              </a:ext>
            </a:extLst>
          </p:cNvPr>
          <p:cNvSpPr txBox="1"/>
          <p:nvPr/>
        </p:nvSpPr>
        <p:spPr>
          <a:xfrm>
            <a:off x="609600" y="1426030"/>
            <a:ext cx="9993085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FF00"/>
                </a:solidFill>
              </a:rPr>
              <a:t>L. R. FORD, JR. AND D. R. FULKERSON, </a:t>
            </a:r>
            <a:r>
              <a:rPr lang="en-US" sz="1900" dirty="0">
                <a:solidFill>
                  <a:srgbClr val="FFFF00"/>
                </a:solidFill>
                <a:hlinkClick r:id="rId2"/>
              </a:rPr>
              <a:t>Maximal flow through a network</a:t>
            </a:r>
            <a:r>
              <a:rPr lang="en-US" sz="1900" dirty="0">
                <a:solidFill>
                  <a:srgbClr val="FFFF00"/>
                </a:solidFill>
              </a:rPr>
              <a:t>, </a:t>
            </a:r>
            <a:r>
              <a:rPr lang="en-US" sz="1900" dirty="0" err="1">
                <a:solidFill>
                  <a:srgbClr val="FFFF00"/>
                </a:solidFill>
              </a:rPr>
              <a:t>Canad.J</a:t>
            </a:r>
            <a:r>
              <a:rPr lang="en-US" sz="1900" dirty="0">
                <a:solidFill>
                  <a:srgbClr val="FFFF00"/>
                </a:solidFill>
              </a:rPr>
              <a:t>. Math., 8 (1956), pp. 399-404</a:t>
            </a: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</a:pPr>
            <a:r>
              <a:rPr lang="en-US" sz="1900" dirty="0"/>
              <a:t>R.E. GOMORY AND Z. C. HU, </a:t>
            </a:r>
            <a:r>
              <a:rPr lang="en-US" sz="1900" dirty="0">
                <a:hlinkClick r:id="rId3"/>
              </a:rPr>
              <a:t>Multi-terminal network flows</a:t>
            </a:r>
            <a:r>
              <a:rPr lang="en-US" sz="1900" dirty="0"/>
              <a:t>, SIAM J. Appl. Math., 9 (1961), pp. 551-570</a:t>
            </a: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FF00"/>
                </a:solidFill>
              </a:rPr>
              <a:t>Dan Gusfield. </a:t>
            </a:r>
            <a:r>
              <a:rPr lang="en-US" sz="1900" dirty="0">
                <a:solidFill>
                  <a:srgbClr val="FFFF00"/>
                </a:solidFill>
                <a:hlinkClick r:id="rId4"/>
              </a:rPr>
              <a:t>Very simple methods for all pairs network flow analysis</a:t>
            </a:r>
            <a:r>
              <a:rPr lang="en-US" sz="1900" dirty="0">
                <a:solidFill>
                  <a:srgbClr val="FFFF00"/>
                </a:solidFill>
              </a:rPr>
              <a:t>. </a:t>
            </a:r>
            <a:r>
              <a:rPr lang="en-US" sz="1900" i="1" dirty="0">
                <a:solidFill>
                  <a:srgbClr val="FFFF00"/>
                </a:solidFill>
              </a:rPr>
              <a:t>SIAM Journal on </a:t>
            </a:r>
            <a:r>
              <a:rPr lang="en-IN" sz="1900" i="1" dirty="0">
                <a:solidFill>
                  <a:srgbClr val="FFFF00"/>
                </a:solidFill>
              </a:rPr>
              <a:t>Computing,</a:t>
            </a:r>
            <a:r>
              <a:rPr lang="en-IN" sz="1900" dirty="0">
                <a:solidFill>
                  <a:srgbClr val="FFFF00"/>
                </a:solidFill>
              </a:rPr>
              <a:t> 19(1):143-155, 1990</a:t>
            </a:r>
            <a:endParaRPr lang="en-US" sz="1900" dirty="0">
              <a:solidFill>
                <a:srgbClr val="FFFF00"/>
              </a:solidFill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</a:pPr>
            <a:r>
              <a:rPr lang="en-US" sz="1900" dirty="0"/>
              <a:t>Hartmann T, Wagner D (2013) </a:t>
            </a:r>
            <a:r>
              <a:rPr lang="en-US" sz="1900" dirty="0">
                <a:hlinkClick r:id="rId5"/>
              </a:rPr>
              <a:t>Dynamic Gomory–Hu tree construction—fast and simple.</a:t>
            </a:r>
            <a:endParaRPr lang="en-US" sz="1900" dirty="0"/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FF00"/>
                </a:solidFill>
              </a:rPr>
              <a:t>Tanja Hartmann </a:t>
            </a:r>
            <a:r>
              <a:rPr lang="en-US" sz="1900" dirty="0">
                <a:solidFill>
                  <a:srgbClr val="FFFF00"/>
                </a:solidFill>
                <a:hlinkClick r:id="rId6"/>
              </a:rPr>
              <a:t>Algorithms for graph connectivity and cut problems</a:t>
            </a:r>
            <a:r>
              <a:rPr lang="en-US" sz="1900" dirty="0">
                <a:solidFill>
                  <a:srgbClr val="FFFF00"/>
                </a:solidFill>
              </a:rPr>
              <a:t> (2014)</a:t>
            </a:r>
            <a:endParaRPr lang="en-IN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7612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80E65-38E1-1D41-7A5F-96AA9EB21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783" y="2623458"/>
            <a:ext cx="8825658" cy="120831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IN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67271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2164</TotalTime>
  <Words>1617</Words>
  <Application>Microsoft Office PowerPoint</Application>
  <PresentationFormat>Widescreen</PresentationFormat>
  <Paragraphs>385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Cambria Math</vt:lpstr>
      <vt:lpstr>Century Gothic</vt:lpstr>
      <vt:lpstr>Wingdings</vt:lpstr>
      <vt:lpstr>Wingdings 3</vt:lpstr>
      <vt:lpstr>Ion</vt:lpstr>
      <vt:lpstr>Dynamic  Gomory-Hu Tree</vt:lpstr>
      <vt:lpstr>Table of Contents</vt:lpstr>
      <vt:lpstr>Network Flow</vt:lpstr>
      <vt:lpstr>Multi-Terminal Network Flow</vt:lpstr>
      <vt:lpstr>Gomory-Hu Cut Tree</vt:lpstr>
      <vt:lpstr>Properties</vt:lpstr>
      <vt:lpstr>Construction of Gomory-Hu Tree</vt:lpstr>
      <vt:lpstr>Construction</vt:lpstr>
      <vt:lpstr>Construction</vt:lpstr>
      <vt:lpstr>Construction</vt:lpstr>
      <vt:lpstr>Construction</vt:lpstr>
      <vt:lpstr>Construction</vt:lpstr>
      <vt:lpstr>Construction</vt:lpstr>
      <vt:lpstr>Construction</vt:lpstr>
      <vt:lpstr>Dynamic Gomory-Hu Tree</vt:lpstr>
      <vt:lpstr>Construction of Dynamic Gomory-Hu Tree</vt:lpstr>
      <vt:lpstr>Increase (2,3) by 3 </vt:lpstr>
      <vt:lpstr>Increase</vt:lpstr>
      <vt:lpstr>Increase</vt:lpstr>
      <vt:lpstr>Increase</vt:lpstr>
      <vt:lpstr>Increase</vt:lpstr>
      <vt:lpstr>Decrease (5,6) by 2 </vt:lpstr>
      <vt:lpstr>Decrease (5,6) by ∆=2 </vt:lpstr>
      <vt:lpstr>Decrease</vt:lpstr>
      <vt:lpstr>Decrease</vt:lpstr>
      <vt:lpstr>Decrease</vt:lpstr>
      <vt:lpstr>Decrease</vt:lpstr>
      <vt:lpstr>Decrease</vt:lpstr>
      <vt:lpstr>Future Works</vt:lpstr>
      <vt:lpstr>Applications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Vertex Cover</dc:title>
  <dc:creator>Soham Chakraborty</dc:creator>
  <cp:lastModifiedBy>Soham Chakraborty</cp:lastModifiedBy>
  <cp:revision>35</cp:revision>
  <dcterms:created xsi:type="dcterms:W3CDTF">2024-03-18T19:09:50Z</dcterms:created>
  <dcterms:modified xsi:type="dcterms:W3CDTF">2025-11-19T10:20:33Z</dcterms:modified>
</cp:coreProperties>
</file>